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libri" panose="020F0502020204030204" pitchFamily="34" charset="0"/>
      <p:regular r:id="rId12"/>
      <p:bold r:id="rId13"/>
      <p:italic r:id="rId14"/>
      <p:boldItalic r:id="rId15"/>
    </p:embeddedFont>
    <p:embeddedFont>
      <p:font typeface="Monda Bold" panose="020B0604020202020204" charset="0"/>
      <p:regular r:id="rId16"/>
    </p:embeddedFont>
    <p:embeddedFont>
      <p:font typeface="Bricolage Grotesque"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26" y="-2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r:embed="rId2">
              <a:extLst>
                <a:ext uri="{96DAC541-7B7A-43D3-8B79-37D633B846F1}">
                  <asvg:svgBlip xmlns:asvg="http://schemas.microsoft.com/office/drawing/2016/SVG/main" xmlns="" r:embed="rId3"/>
                </a:ext>
              </a:extLst>
            </a:blip>
            <a:stretch>
              <a:fillRect l="-36235"/>
            </a:stretch>
          </a:blipFill>
        </p:spPr>
      </p:sp>
      <p:sp>
        <p:nvSpPr>
          <p:cNvPr id="3" name="Freeform 3"/>
          <p:cNvSpPr/>
          <p:nvPr/>
        </p:nvSpPr>
        <p:spPr>
          <a:xfrm flipH="1">
            <a:off x="589664" y="3613660"/>
            <a:ext cx="2793318" cy="8644339"/>
          </a:xfrm>
          <a:custGeom>
            <a:avLst/>
            <a:gdLst/>
            <a:ahLst/>
            <a:cxnLst/>
            <a:rect l="l" t="t" r="r" b="b"/>
            <a:pathLst>
              <a:path w="2793318" h="8644339">
                <a:moveTo>
                  <a:pt x="2793319" y="0"/>
                </a:moveTo>
                <a:lnTo>
                  <a:pt x="0" y="0"/>
                </a:lnTo>
                <a:lnTo>
                  <a:pt x="0" y="8644339"/>
                </a:lnTo>
                <a:lnTo>
                  <a:pt x="2793319" y="8644339"/>
                </a:lnTo>
                <a:lnTo>
                  <a:pt x="2793319" y="0"/>
                </a:lnTo>
                <a:close/>
              </a:path>
            </a:pathLst>
          </a:custGeom>
          <a:blipFill>
            <a:blip r:embed="rId2">
              <a:extLst>
                <a:ext uri="{96DAC541-7B7A-43D3-8B79-37D633B846F1}">
                  <asvg:svgBlip xmlns:asvg="http://schemas.microsoft.com/office/drawing/2016/SVG/main" xmlns="" r:embed="rId3"/>
                </a:ext>
              </a:extLst>
            </a:blip>
            <a:stretch>
              <a:fillRect r="-278234"/>
            </a:stretch>
          </a:blipFill>
        </p:spPr>
      </p:sp>
      <p:grpSp>
        <p:nvGrpSpPr>
          <p:cNvPr id="4" name="Group 4"/>
          <p:cNvGrpSpPr/>
          <p:nvPr/>
        </p:nvGrpSpPr>
        <p:grpSpPr>
          <a:xfrm>
            <a:off x="13228992" y="4605176"/>
            <a:ext cx="4030308" cy="3792862"/>
            <a:chOff x="0" y="0"/>
            <a:chExt cx="1976073" cy="1859652"/>
          </a:xfrm>
        </p:grpSpPr>
        <p:sp>
          <p:nvSpPr>
            <p:cNvPr id="5" name="Freeform 5"/>
            <p:cNvSpPr/>
            <p:nvPr/>
          </p:nvSpPr>
          <p:spPr>
            <a:xfrm>
              <a:off x="0" y="6"/>
              <a:ext cx="1976066" cy="1859646"/>
            </a:xfrm>
            <a:custGeom>
              <a:avLst/>
              <a:gdLst/>
              <a:ahLst/>
              <a:cxnLst/>
              <a:rect l="l" t="t" r="r" b="b"/>
              <a:pathLst>
                <a:path w="1976066" h="1859646">
                  <a:moveTo>
                    <a:pt x="1303304" y="1281700"/>
                  </a:moveTo>
                  <a:lnTo>
                    <a:pt x="1890214" y="1281700"/>
                  </a:lnTo>
                  <a:cubicBezTo>
                    <a:pt x="1937629" y="1281700"/>
                    <a:pt x="1976066" y="1243262"/>
                    <a:pt x="1976066" y="1195848"/>
                  </a:cubicBezTo>
                  <a:lnTo>
                    <a:pt x="1976066" y="85852"/>
                  </a:lnTo>
                  <a:cubicBezTo>
                    <a:pt x="1976066" y="38438"/>
                    <a:pt x="1937629" y="0"/>
                    <a:pt x="1890214" y="0"/>
                  </a:cubicBezTo>
                  <a:lnTo>
                    <a:pt x="646049" y="0"/>
                  </a:lnTo>
                  <a:cubicBezTo>
                    <a:pt x="623279" y="0"/>
                    <a:pt x="601441" y="9046"/>
                    <a:pt x="585340" y="25148"/>
                  </a:cubicBezTo>
                  <a:cubicBezTo>
                    <a:pt x="569240" y="41250"/>
                    <a:pt x="560195" y="63088"/>
                    <a:pt x="560197" y="85859"/>
                  </a:cubicBezTo>
                  <a:lnTo>
                    <a:pt x="560197" y="831732"/>
                  </a:lnTo>
                  <a:cubicBezTo>
                    <a:pt x="560197" y="879148"/>
                    <a:pt x="521761" y="917587"/>
                    <a:pt x="474345" y="917591"/>
                  </a:cubicBezTo>
                  <a:lnTo>
                    <a:pt x="85858" y="917591"/>
                  </a:lnTo>
                  <a:cubicBezTo>
                    <a:pt x="38440" y="917591"/>
                    <a:pt x="0" y="956031"/>
                    <a:pt x="0" y="1003449"/>
                  </a:cubicBezTo>
                  <a:lnTo>
                    <a:pt x="0" y="1179179"/>
                  </a:lnTo>
                  <a:lnTo>
                    <a:pt x="0" y="1553226"/>
                  </a:lnTo>
                  <a:cubicBezTo>
                    <a:pt x="0" y="1573624"/>
                    <a:pt x="7263" y="1593357"/>
                    <a:pt x="20488" y="1608887"/>
                  </a:cubicBezTo>
                  <a:lnTo>
                    <a:pt x="208294" y="1829451"/>
                  </a:lnTo>
                  <a:cubicBezTo>
                    <a:pt x="224606" y="1848609"/>
                    <a:pt x="248502" y="1859647"/>
                    <a:pt x="273665" y="1859646"/>
                  </a:cubicBezTo>
                  <a:lnTo>
                    <a:pt x="1131588" y="1859646"/>
                  </a:lnTo>
                  <a:cubicBezTo>
                    <a:pt x="1154358" y="1859648"/>
                    <a:pt x="1176197" y="1850604"/>
                    <a:pt x="1192298" y="1834503"/>
                  </a:cubicBezTo>
                  <a:cubicBezTo>
                    <a:pt x="1208400" y="1818403"/>
                    <a:pt x="1217446" y="1796565"/>
                    <a:pt x="1217446" y="1773794"/>
                  </a:cubicBezTo>
                  <a:lnTo>
                    <a:pt x="1217446" y="1367558"/>
                  </a:lnTo>
                  <a:cubicBezTo>
                    <a:pt x="1217444" y="1344787"/>
                    <a:pt x="1226490" y="1322947"/>
                    <a:pt x="1242592" y="1306845"/>
                  </a:cubicBezTo>
                  <a:cubicBezTo>
                    <a:pt x="1258694" y="1290743"/>
                    <a:pt x="1280533" y="1281698"/>
                    <a:pt x="1303304" y="1281700"/>
                  </a:cubicBezTo>
                  <a:close/>
                </a:path>
              </a:pathLst>
            </a:custGeom>
            <a:blipFill>
              <a:blip r:embed="rId4"/>
              <a:stretch>
                <a:fillRect t="-672" b="-672"/>
              </a:stretch>
            </a:blipFill>
          </p:spPr>
        </p:sp>
      </p:grpSp>
      <p:sp>
        <p:nvSpPr>
          <p:cNvPr id="6" name="Freeform 6"/>
          <p:cNvSpPr/>
          <p:nvPr/>
        </p:nvSpPr>
        <p:spPr>
          <a:xfrm>
            <a:off x="14893457" y="515915"/>
            <a:ext cx="2932078" cy="1767280"/>
          </a:xfrm>
          <a:custGeom>
            <a:avLst/>
            <a:gdLst/>
            <a:ahLst/>
            <a:cxnLst/>
            <a:rect l="l" t="t" r="r" b="b"/>
            <a:pathLst>
              <a:path w="2932078" h="1767280">
                <a:moveTo>
                  <a:pt x="0" y="0"/>
                </a:moveTo>
                <a:lnTo>
                  <a:pt x="2932079" y="0"/>
                </a:lnTo>
                <a:lnTo>
                  <a:pt x="2932079" y="1767280"/>
                </a:lnTo>
                <a:lnTo>
                  <a:pt x="0" y="1767280"/>
                </a:lnTo>
                <a:lnTo>
                  <a:pt x="0" y="0"/>
                </a:lnTo>
                <a:close/>
              </a:path>
            </a:pathLst>
          </a:custGeom>
          <a:blipFill>
            <a:blip r:embed="rId5"/>
            <a:stretch>
              <a:fillRect l="-83067" t="-88653" r="-525532" b="-643198"/>
            </a:stretch>
          </a:blipFill>
        </p:spPr>
      </p:sp>
      <p:sp>
        <p:nvSpPr>
          <p:cNvPr id="7" name="TextBox 7"/>
          <p:cNvSpPr txBox="1"/>
          <p:nvPr/>
        </p:nvSpPr>
        <p:spPr>
          <a:xfrm>
            <a:off x="3972420" y="2178420"/>
            <a:ext cx="9990969" cy="965971"/>
          </a:xfrm>
          <a:prstGeom prst="rect">
            <a:avLst/>
          </a:prstGeom>
        </p:spPr>
        <p:txBody>
          <a:bodyPr lIns="0" tIns="0" rIns="0" bIns="0" rtlCol="0" anchor="t">
            <a:spAutoFit/>
          </a:bodyPr>
          <a:lstStyle/>
          <a:p>
            <a:pPr marL="0" lvl="0" indent="0" algn="l">
              <a:lnSpc>
                <a:spcPts val="7958"/>
              </a:lnSpc>
            </a:pPr>
            <a:r>
              <a:rPr lang="en-US" sz="5684" b="1">
                <a:solidFill>
                  <a:srgbClr val="5A8D1E"/>
                </a:solidFill>
                <a:latin typeface="Monda Bold"/>
                <a:ea typeface="Monda Bold"/>
                <a:cs typeface="Monda Bold"/>
                <a:sym typeface="Monda Bold"/>
              </a:rPr>
              <a:t>ADH ID</a:t>
            </a:r>
          </a:p>
        </p:txBody>
      </p:sp>
      <p:sp>
        <p:nvSpPr>
          <p:cNvPr id="8" name="TextBox 8"/>
          <p:cNvSpPr txBox="1"/>
          <p:nvPr/>
        </p:nvSpPr>
        <p:spPr>
          <a:xfrm>
            <a:off x="3972420" y="3547882"/>
            <a:ext cx="9416550" cy="965971"/>
          </a:xfrm>
          <a:prstGeom prst="rect">
            <a:avLst/>
          </a:prstGeom>
        </p:spPr>
        <p:txBody>
          <a:bodyPr lIns="0" tIns="0" rIns="0" bIns="0" rtlCol="0" anchor="t">
            <a:spAutoFit/>
          </a:bodyPr>
          <a:lstStyle/>
          <a:p>
            <a:pPr marL="0" lvl="0" indent="0" algn="l">
              <a:lnSpc>
                <a:spcPts val="7958"/>
              </a:lnSpc>
            </a:pPr>
            <a:r>
              <a:rPr lang="en-US" sz="5684" b="1">
                <a:solidFill>
                  <a:srgbClr val="225A58"/>
                </a:solidFill>
                <a:latin typeface="Monda Bold"/>
                <a:ea typeface="Monda Bold"/>
                <a:cs typeface="Monda Bold"/>
                <a:sym typeface="Monda Bold"/>
              </a:rPr>
              <a:t>GENERATION SOFTWARE</a:t>
            </a:r>
          </a:p>
        </p:txBody>
      </p:sp>
      <p:sp>
        <p:nvSpPr>
          <p:cNvPr id="9" name="TextBox 9"/>
          <p:cNvSpPr txBox="1"/>
          <p:nvPr/>
        </p:nvSpPr>
        <p:spPr>
          <a:xfrm>
            <a:off x="3972420" y="8092673"/>
            <a:ext cx="4546447" cy="307293"/>
          </a:xfrm>
          <a:prstGeom prst="rect">
            <a:avLst/>
          </a:prstGeom>
        </p:spPr>
        <p:txBody>
          <a:bodyPr lIns="0" tIns="0" rIns="0" bIns="0" rtlCol="0" anchor="t">
            <a:spAutoFit/>
          </a:bodyPr>
          <a:lstStyle/>
          <a:p>
            <a:pPr marL="0" lvl="0" indent="0" algn="l">
              <a:lnSpc>
                <a:spcPts val="2487"/>
              </a:lnSpc>
            </a:pPr>
            <a:r>
              <a:rPr lang="en-US" sz="1776">
                <a:solidFill>
                  <a:srgbClr val="225A58"/>
                </a:solidFill>
                <a:latin typeface="Bricolage Grotesque"/>
                <a:ea typeface="Bricolage Grotesque"/>
                <a:cs typeface="Bricolage Grotesque"/>
                <a:sym typeface="Bricolage Grotesque"/>
              </a:rPr>
              <a:t>Presented by:</a:t>
            </a:r>
          </a:p>
        </p:txBody>
      </p:sp>
      <p:sp>
        <p:nvSpPr>
          <p:cNvPr id="10" name="TextBox 10"/>
          <p:cNvSpPr txBox="1"/>
          <p:nvPr/>
        </p:nvSpPr>
        <p:spPr>
          <a:xfrm>
            <a:off x="3972420" y="4961426"/>
            <a:ext cx="9588307" cy="438026"/>
          </a:xfrm>
          <a:prstGeom prst="rect">
            <a:avLst/>
          </a:prstGeom>
        </p:spPr>
        <p:txBody>
          <a:bodyPr lIns="0" tIns="0" rIns="0" bIns="0" rtlCol="0" anchor="t">
            <a:spAutoFit/>
          </a:bodyPr>
          <a:lstStyle/>
          <a:p>
            <a:pPr marL="0" lvl="0" indent="0" algn="l">
              <a:lnSpc>
                <a:spcPts val="3519"/>
              </a:lnSpc>
            </a:pPr>
            <a:r>
              <a:rPr lang="en-US" sz="2514">
                <a:solidFill>
                  <a:srgbClr val="225A58"/>
                </a:solidFill>
                <a:latin typeface="Bricolage Grotesque"/>
                <a:ea typeface="Bricolage Grotesque"/>
                <a:cs typeface="Bricolage Grotesque"/>
                <a:sym typeface="Bricolage Grotesque"/>
              </a:rPr>
              <a:t>Internship Presentation | Software Design and Development</a:t>
            </a:r>
          </a:p>
        </p:txBody>
      </p:sp>
      <p:sp>
        <p:nvSpPr>
          <p:cNvPr id="11" name="TextBox 11"/>
          <p:cNvSpPr txBox="1"/>
          <p:nvPr/>
        </p:nvSpPr>
        <p:spPr>
          <a:xfrm>
            <a:off x="10325245" y="8677910"/>
            <a:ext cx="6934055" cy="458438"/>
          </a:xfrm>
          <a:prstGeom prst="rect">
            <a:avLst/>
          </a:prstGeom>
        </p:spPr>
        <p:txBody>
          <a:bodyPr lIns="0" tIns="0" rIns="0" bIns="0" rtlCol="0" anchor="t">
            <a:spAutoFit/>
          </a:bodyPr>
          <a:lstStyle/>
          <a:p>
            <a:pPr marL="0" lvl="0" indent="0" algn="r">
              <a:lnSpc>
                <a:spcPts val="3606"/>
              </a:lnSpc>
            </a:pPr>
            <a:r>
              <a:rPr lang="en-US" sz="2576">
                <a:solidFill>
                  <a:srgbClr val="225A58"/>
                </a:solidFill>
                <a:latin typeface="Bricolage Grotesque"/>
                <a:ea typeface="Bricolage Grotesque"/>
                <a:cs typeface="Bricolage Grotesque"/>
                <a:sym typeface="Bricolage Grotesque"/>
              </a:rPr>
              <a:t>ADH Enterprises</a:t>
            </a:r>
          </a:p>
        </p:txBody>
      </p:sp>
      <p:sp>
        <p:nvSpPr>
          <p:cNvPr id="12" name="TextBox 12"/>
          <p:cNvSpPr txBox="1"/>
          <p:nvPr/>
        </p:nvSpPr>
        <p:spPr>
          <a:xfrm>
            <a:off x="3972420" y="8606388"/>
            <a:ext cx="5501850" cy="355649"/>
          </a:xfrm>
          <a:prstGeom prst="rect">
            <a:avLst/>
          </a:prstGeom>
        </p:spPr>
        <p:txBody>
          <a:bodyPr lIns="0" tIns="0" rIns="0" bIns="0" rtlCol="0" anchor="t">
            <a:spAutoFit/>
          </a:bodyPr>
          <a:lstStyle/>
          <a:p>
            <a:pPr marL="0" lvl="0" indent="0" algn="l">
              <a:lnSpc>
                <a:spcPts val="2972"/>
              </a:lnSpc>
            </a:pPr>
            <a:r>
              <a:rPr lang="en-US" sz="2123" b="1">
                <a:solidFill>
                  <a:srgbClr val="225A58"/>
                </a:solidFill>
                <a:latin typeface="Monda Bold"/>
                <a:ea typeface="Monda Bold"/>
                <a:cs typeface="Monda Bold"/>
                <a:sym typeface="Monda Bold"/>
              </a:rPr>
              <a:t>Mohd Hunain Zafar</a:t>
            </a:r>
          </a:p>
        </p:txBody>
      </p:sp>
      <p:sp>
        <p:nvSpPr>
          <p:cNvPr id="13" name="TextBox 13"/>
          <p:cNvSpPr txBox="1"/>
          <p:nvPr/>
        </p:nvSpPr>
        <p:spPr>
          <a:xfrm>
            <a:off x="3972420" y="8975646"/>
            <a:ext cx="5501850" cy="355649"/>
          </a:xfrm>
          <a:prstGeom prst="rect">
            <a:avLst/>
          </a:prstGeom>
        </p:spPr>
        <p:txBody>
          <a:bodyPr lIns="0" tIns="0" rIns="0" bIns="0" rtlCol="0" anchor="t">
            <a:spAutoFit/>
          </a:bodyPr>
          <a:lstStyle/>
          <a:p>
            <a:pPr marL="0" lvl="0" indent="0" algn="l">
              <a:lnSpc>
                <a:spcPts val="2972"/>
              </a:lnSpc>
            </a:pPr>
            <a:r>
              <a:rPr lang="en-US" sz="2123" b="1">
                <a:solidFill>
                  <a:srgbClr val="225A58"/>
                </a:solidFill>
                <a:latin typeface="Monda Bold"/>
                <a:ea typeface="Monda Bold"/>
                <a:cs typeface="Monda Bold"/>
                <a:sym typeface="Monda Bold"/>
              </a:rPr>
              <a:t>2SSCS1003005431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96517" y="2686685"/>
            <a:ext cx="11372919" cy="867870"/>
          </a:xfrm>
          <a:prstGeom prst="rect">
            <a:avLst/>
          </a:prstGeom>
        </p:spPr>
        <p:txBody>
          <a:bodyPr lIns="0" tIns="0" rIns="0" bIns="0" rtlCol="0" anchor="t">
            <a:spAutoFit/>
          </a:bodyPr>
          <a:lstStyle/>
          <a:p>
            <a:pPr marL="0" lvl="0" indent="0" algn="l">
              <a:lnSpc>
                <a:spcPts val="6435"/>
              </a:lnSpc>
            </a:pPr>
            <a:r>
              <a:rPr lang="en-US" sz="6995" b="1">
                <a:solidFill>
                  <a:srgbClr val="5A8D1E"/>
                </a:solidFill>
                <a:latin typeface="Monda Bold"/>
                <a:ea typeface="Monda Bold"/>
                <a:cs typeface="Monda Bold"/>
                <a:sym typeface="Monda Bold"/>
              </a:rPr>
              <a:t>INTERNSHIP OVERVIEW</a:t>
            </a:r>
          </a:p>
        </p:txBody>
      </p:sp>
      <p:sp>
        <p:nvSpPr>
          <p:cNvPr id="3" name="Freeform 3"/>
          <p:cNvSpPr/>
          <p:nvPr/>
        </p:nvSpPr>
        <p:spPr>
          <a:xfrm flipV="1">
            <a:off x="13529354" y="537418"/>
            <a:ext cx="9517292" cy="10608512"/>
          </a:xfrm>
          <a:custGeom>
            <a:avLst/>
            <a:gdLst/>
            <a:ahLst/>
            <a:cxnLst/>
            <a:rect l="l" t="t" r="r" b="b"/>
            <a:pathLst>
              <a:path w="9517292" h="10608512">
                <a:moveTo>
                  <a:pt x="0" y="10608512"/>
                </a:moveTo>
                <a:lnTo>
                  <a:pt x="9517292" y="10608512"/>
                </a:lnTo>
                <a:lnTo>
                  <a:pt x="9517292" y="0"/>
                </a:lnTo>
                <a:lnTo>
                  <a:pt x="0" y="0"/>
                </a:lnTo>
                <a:lnTo>
                  <a:pt x="0" y="10608512"/>
                </a:lnTo>
                <a:close/>
              </a:path>
            </a:pathLst>
          </a:custGeom>
          <a:blipFill>
            <a:blip r:embed="rId2">
              <a:extLst>
                <a:ext uri="{96DAC541-7B7A-43D3-8B79-37D633B846F1}">
                  <asvg:svgBlip xmlns:asvg="http://schemas.microsoft.com/office/drawing/2016/SVG/main" xmlns="" r:embed="rId3"/>
                </a:ext>
              </a:extLst>
            </a:blip>
            <a:stretch>
              <a:fillRect l="-36235"/>
            </a:stretch>
          </a:blipFill>
        </p:spPr>
      </p:sp>
      <p:grpSp>
        <p:nvGrpSpPr>
          <p:cNvPr id="4" name="Group 4"/>
          <p:cNvGrpSpPr/>
          <p:nvPr/>
        </p:nvGrpSpPr>
        <p:grpSpPr>
          <a:xfrm>
            <a:off x="10818695" y="4011930"/>
            <a:ext cx="6440605" cy="5526520"/>
            <a:chOff x="0" y="0"/>
            <a:chExt cx="6269228" cy="5379466"/>
          </a:xfrm>
        </p:grpSpPr>
        <p:sp>
          <p:nvSpPr>
            <p:cNvPr id="5" name="Freeform 5"/>
            <p:cNvSpPr/>
            <p:nvPr/>
          </p:nvSpPr>
          <p:spPr>
            <a:xfrm>
              <a:off x="12" y="76"/>
              <a:ext cx="6269216" cy="5379390"/>
            </a:xfrm>
            <a:custGeom>
              <a:avLst/>
              <a:gdLst/>
              <a:ahLst/>
              <a:cxnLst/>
              <a:rect l="l" t="t" r="r" b="b"/>
              <a:pathLst>
                <a:path w="6269216" h="5379390">
                  <a:moveTo>
                    <a:pt x="5977116" y="5379390"/>
                  </a:moveTo>
                  <a:cubicBezTo>
                    <a:pt x="6137771" y="5379390"/>
                    <a:pt x="6269216" y="5247945"/>
                    <a:pt x="6269216" y="5087290"/>
                  </a:cubicBezTo>
                  <a:lnTo>
                    <a:pt x="6269216" y="237922"/>
                  </a:lnTo>
                  <a:cubicBezTo>
                    <a:pt x="6269216" y="77267"/>
                    <a:pt x="6140565" y="-27000"/>
                    <a:pt x="5983466" y="6147"/>
                  </a:cubicBezTo>
                  <a:lnTo>
                    <a:pt x="204966" y="1224966"/>
                  </a:lnTo>
                  <a:cubicBezTo>
                    <a:pt x="47740" y="1258113"/>
                    <a:pt x="-37350" y="1409243"/>
                    <a:pt x="15863" y="1560881"/>
                  </a:cubicBezTo>
                  <a:lnTo>
                    <a:pt x="1258431" y="5103673"/>
                  </a:lnTo>
                  <a:cubicBezTo>
                    <a:pt x="1311644" y="5255311"/>
                    <a:pt x="1486523" y="5379263"/>
                    <a:pt x="1647178" y="5379263"/>
                  </a:cubicBezTo>
                  <a:lnTo>
                    <a:pt x="5977116" y="5379390"/>
                  </a:lnTo>
                  <a:close/>
                </a:path>
              </a:pathLst>
            </a:custGeom>
            <a:blipFill>
              <a:blip r:embed="rId4"/>
              <a:stretch>
                <a:fillRect l="-105" r="-105"/>
              </a:stretch>
            </a:blipFill>
          </p:spPr>
        </p:sp>
      </p:grpSp>
      <p:sp>
        <p:nvSpPr>
          <p:cNvPr id="6" name="Freeform 6"/>
          <p:cNvSpPr/>
          <p:nvPr/>
        </p:nvSpPr>
        <p:spPr>
          <a:xfrm flipH="1">
            <a:off x="111018" y="-1203895"/>
            <a:ext cx="3761399" cy="5954917"/>
          </a:xfrm>
          <a:custGeom>
            <a:avLst/>
            <a:gdLst/>
            <a:ahLst/>
            <a:cxnLst/>
            <a:rect l="l" t="t" r="r" b="b"/>
            <a:pathLst>
              <a:path w="3761399" h="5954917">
                <a:moveTo>
                  <a:pt x="3761398" y="0"/>
                </a:moveTo>
                <a:lnTo>
                  <a:pt x="0" y="0"/>
                </a:lnTo>
                <a:lnTo>
                  <a:pt x="0" y="5954917"/>
                </a:lnTo>
                <a:lnTo>
                  <a:pt x="3761398" y="5954917"/>
                </a:lnTo>
                <a:lnTo>
                  <a:pt x="3761398" y="0"/>
                </a:lnTo>
                <a:close/>
              </a:path>
            </a:pathLst>
          </a:custGeom>
          <a:blipFill>
            <a:blip r:embed="rId2">
              <a:extLst>
                <a:ext uri="{96DAC541-7B7A-43D3-8B79-37D633B846F1}">
                  <asvg:svgBlip xmlns:asvg="http://schemas.microsoft.com/office/drawing/2016/SVG/main" xmlns="" r:embed="rId3"/>
                </a:ext>
              </a:extLst>
            </a:blip>
            <a:stretch>
              <a:fillRect t="-30812" r="-286682" b="-69025"/>
            </a:stretch>
          </a:blipFill>
        </p:spPr>
      </p:sp>
      <p:sp>
        <p:nvSpPr>
          <p:cNvPr id="7" name="TextBox 7"/>
          <p:cNvSpPr txBox="1"/>
          <p:nvPr/>
        </p:nvSpPr>
        <p:spPr>
          <a:xfrm>
            <a:off x="1028700" y="4903622"/>
            <a:ext cx="8939707" cy="1243949"/>
          </a:xfrm>
          <a:prstGeom prst="rect">
            <a:avLst/>
          </a:prstGeom>
        </p:spPr>
        <p:txBody>
          <a:bodyPr lIns="0" tIns="0" rIns="0" bIns="0" rtlCol="0" anchor="t">
            <a:spAutoFit/>
          </a:bodyPr>
          <a:lstStyle/>
          <a:p>
            <a:pPr marL="0" lvl="0" indent="0" algn="just">
              <a:lnSpc>
                <a:spcPts val="3360"/>
              </a:lnSpc>
            </a:pPr>
            <a:r>
              <a:rPr lang="en-US" sz="2400">
                <a:solidFill>
                  <a:srgbClr val="225A58"/>
                </a:solidFill>
                <a:latin typeface="Bricolage Grotesque"/>
                <a:ea typeface="Bricolage Grotesque"/>
                <a:cs typeface="Bricolage Grotesque"/>
                <a:sym typeface="Bricolage Grotesque"/>
              </a:rPr>
              <a:t>• Product ideation and conceptualization for ADH ID Generation Software</a:t>
            </a:r>
          </a:p>
          <a:p>
            <a:pPr marL="0" lvl="0" indent="0" algn="just">
              <a:lnSpc>
                <a:spcPts val="3360"/>
              </a:lnSpc>
            </a:pPr>
            <a:r>
              <a:rPr lang="en-US" sz="2400">
                <a:solidFill>
                  <a:srgbClr val="225A58"/>
                </a:solidFill>
                <a:latin typeface="Bricolage Grotesque"/>
                <a:ea typeface="Bricolage Grotesque"/>
                <a:cs typeface="Bricolage Grotesque"/>
                <a:sym typeface="Bricolage Grotesque"/>
              </a:rPr>
              <a:t>• Software planning and defining overall system structure</a:t>
            </a:r>
          </a:p>
        </p:txBody>
      </p:sp>
      <p:sp>
        <p:nvSpPr>
          <p:cNvPr id="8" name="TextBox 8"/>
          <p:cNvSpPr txBox="1"/>
          <p:nvPr/>
        </p:nvSpPr>
        <p:spPr>
          <a:xfrm>
            <a:off x="1028700" y="6556115"/>
            <a:ext cx="8939707" cy="824849"/>
          </a:xfrm>
          <a:prstGeom prst="rect">
            <a:avLst/>
          </a:prstGeom>
        </p:spPr>
        <p:txBody>
          <a:bodyPr lIns="0" tIns="0" rIns="0" bIns="0" rtlCol="0" anchor="t">
            <a:spAutoFit/>
          </a:bodyPr>
          <a:lstStyle/>
          <a:p>
            <a:pPr marL="0" lvl="0" indent="0" algn="just">
              <a:lnSpc>
                <a:spcPts val="3360"/>
              </a:lnSpc>
            </a:pPr>
            <a:r>
              <a:rPr lang="en-US" sz="2400">
                <a:solidFill>
                  <a:srgbClr val="225A58"/>
                </a:solidFill>
                <a:latin typeface="Bricolage Grotesque"/>
                <a:ea typeface="Bricolage Grotesque"/>
                <a:cs typeface="Bricolage Grotesque"/>
                <a:sym typeface="Bricolage Grotesque"/>
              </a:rPr>
              <a:t>• UI/layout contribution and interface design discussions</a:t>
            </a:r>
          </a:p>
          <a:p>
            <a:pPr marL="0" lvl="0" indent="0" algn="just">
              <a:lnSpc>
                <a:spcPts val="3360"/>
              </a:lnSpc>
            </a:pPr>
            <a:r>
              <a:rPr lang="en-US" sz="2400">
                <a:solidFill>
                  <a:srgbClr val="225A58"/>
                </a:solidFill>
                <a:latin typeface="Bricolage Grotesque"/>
                <a:ea typeface="Bricolage Grotesque"/>
                <a:cs typeface="Bricolage Grotesque"/>
                <a:sym typeface="Bricolage Grotesque"/>
              </a:rPr>
              <a:t>• Database management and data organization responsibilities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24167" y="4506738"/>
            <a:ext cx="3761399" cy="5954917"/>
          </a:xfrm>
          <a:custGeom>
            <a:avLst/>
            <a:gdLst/>
            <a:ahLst/>
            <a:cxnLst/>
            <a:rect l="l" t="t" r="r" b="b"/>
            <a:pathLst>
              <a:path w="3761399" h="5954917">
                <a:moveTo>
                  <a:pt x="3761398" y="0"/>
                </a:moveTo>
                <a:lnTo>
                  <a:pt x="0" y="0"/>
                </a:lnTo>
                <a:lnTo>
                  <a:pt x="0" y="5954918"/>
                </a:lnTo>
                <a:lnTo>
                  <a:pt x="3761398" y="5954918"/>
                </a:lnTo>
                <a:lnTo>
                  <a:pt x="3761398" y="0"/>
                </a:lnTo>
                <a:close/>
              </a:path>
            </a:pathLst>
          </a:custGeom>
          <a:blipFill>
            <a:blip r:embed="rId2">
              <a:extLst>
                <a:ext uri="{96DAC541-7B7A-43D3-8B79-37D633B846F1}">
                  <asvg:svgBlip xmlns:asvg="http://schemas.microsoft.com/office/drawing/2016/SVG/main" xmlns="" r:embed="rId3"/>
                </a:ext>
              </a:extLst>
            </a:blip>
            <a:stretch>
              <a:fillRect t="-30812" r="-286682" b="-69025"/>
            </a:stretch>
          </a:blipFill>
        </p:spPr>
      </p:sp>
      <p:sp>
        <p:nvSpPr>
          <p:cNvPr id="3" name="Freeform 3"/>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r:embed="rId2">
              <a:extLst>
                <a:ext uri="{96DAC541-7B7A-43D3-8B79-37D633B846F1}">
                  <asvg:svgBlip xmlns:asvg="http://schemas.microsoft.com/office/drawing/2016/SVG/main" xmlns="" r:embed="rId3"/>
                </a:ext>
              </a:extLst>
            </a:blip>
            <a:stretch>
              <a:fillRect l="-36235"/>
            </a:stretch>
          </a:blipFill>
        </p:spPr>
      </p:sp>
      <p:grpSp>
        <p:nvGrpSpPr>
          <p:cNvPr id="4" name="Group 4"/>
          <p:cNvGrpSpPr/>
          <p:nvPr/>
        </p:nvGrpSpPr>
        <p:grpSpPr>
          <a:xfrm>
            <a:off x="626933" y="4176936"/>
            <a:ext cx="4389496" cy="4389496"/>
            <a:chOff x="0" y="0"/>
            <a:chExt cx="6350000" cy="6350000"/>
          </a:xfrm>
        </p:grpSpPr>
        <p:sp>
          <p:nvSpPr>
            <p:cNvPr id="5" name="Freeform 5"/>
            <p:cNvSpPr/>
            <p:nvPr/>
          </p:nvSpPr>
          <p:spPr>
            <a:xfrm>
              <a:off x="0" y="0"/>
              <a:ext cx="6350000" cy="6350000"/>
            </a:xfrm>
            <a:custGeom>
              <a:avLst/>
              <a:gdLst/>
              <a:ahLst/>
              <a:cxnLst/>
              <a:rect l="l" t="t" r="r" b="b"/>
              <a:pathLst>
                <a:path w="6350000" h="6350000">
                  <a:moveTo>
                    <a:pt x="0" y="3484334"/>
                  </a:moveTo>
                  <a:lnTo>
                    <a:pt x="0" y="0"/>
                  </a:lnTo>
                  <a:lnTo>
                    <a:pt x="5404803" y="0"/>
                  </a:lnTo>
                  <a:cubicBezTo>
                    <a:pt x="5773928" y="369126"/>
                    <a:pt x="5980874" y="576072"/>
                    <a:pt x="6350000" y="945198"/>
                  </a:cubicBezTo>
                  <a:lnTo>
                    <a:pt x="6350000" y="6350000"/>
                  </a:lnTo>
                  <a:lnTo>
                    <a:pt x="2865666" y="6350000"/>
                  </a:lnTo>
                  <a:cubicBezTo>
                    <a:pt x="1746555" y="5230889"/>
                    <a:pt x="1119111" y="4603445"/>
                    <a:pt x="0" y="3484334"/>
                  </a:cubicBezTo>
                  <a:close/>
                </a:path>
              </a:pathLst>
            </a:custGeom>
            <a:blipFill>
              <a:blip r:embed="rId4"/>
              <a:stretch>
                <a:fillRect/>
              </a:stretch>
            </a:blipFill>
          </p:spPr>
        </p:sp>
      </p:grpSp>
      <p:sp>
        <p:nvSpPr>
          <p:cNvPr id="6" name="TextBox 6"/>
          <p:cNvSpPr txBox="1"/>
          <p:nvPr/>
        </p:nvSpPr>
        <p:spPr>
          <a:xfrm>
            <a:off x="4470777" y="1783591"/>
            <a:ext cx="13679505" cy="1250952"/>
          </a:xfrm>
          <a:prstGeom prst="rect">
            <a:avLst/>
          </a:prstGeom>
        </p:spPr>
        <p:txBody>
          <a:bodyPr lIns="0" tIns="0" rIns="0" bIns="0" rtlCol="0" anchor="t">
            <a:spAutoFit/>
          </a:bodyPr>
          <a:lstStyle/>
          <a:p>
            <a:pPr marL="0" lvl="0" indent="0" algn="l">
              <a:lnSpc>
                <a:spcPts val="9200"/>
              </a:lnSpc>
            </a:pPr>
            <a:r>
              <a:rPr lang="en-US" sz="10000" b="1">
                <a:solidFill>
                  <a:srgbClr val="5A8D1E"/>
                </a:solidFill>
                <a:latin typeface="Monda Bold"/>
                <a:ea typeface="Monda Bold"/>
                <a:cs typeface="Monda Bold"/>
                <a:sym typeface="Monda Bold"/>
              </a:rPr>
              <a:t>PROJECT OVERVIEW</a:t>
            </a:r>
          </a:p>
        </p:txBody>
      </p:sp>
      <p:sp>
        <p:nvSpPr>
          <p:cNvPr id="7" name="TextBox 7"/>
          <p:cNvSpPr txBox="1"/>
          <p:nvPr/>
        </p:nvSpPr>
        <p:spPr>
          <a:xfrm>
            <a:off x="7935228" y="4138836"/>
            <a:ext cx="8939707" cy="1017424"/>
          </a:xfrm>
          <a:prstGeom prst="rect">
            <a:avLst/>
          </a:prstGeom>
        </p:spPr>
        <p:txBody>
          <a:bodyPr lIns="0" tIns="0" rIns="0" bIns="0" rtlCol="0" anchor="t">
            <a:spAutoFit/>
          </a:bodyPr>
          <a:lstStyle/>
          <a:p>
            <a:pPr marL="0" lvl="0" indent="0" algn="just">
              <a:lnSpc>
                <a:spcPts val="2721"/>
              </a:lnSpc>
            </a:pPr>
            <a:r>
              <a:rPr lang="en-US" sz="1943">
                <a:solidFill>
                  <a:srgbClr val="225A58"/>
                </a:solidFill>
                <a:latin typeface="Bricolage Grotesque"/>
                <a:ea typeface="Bricolage Grotesque"/>
                <a:cs typeface="Bricolage Grotesque"/>
                <a:sym typeface="Bricolage Grotesque"/>
              </a:rPr>
              <a:t>A web-based ID Generation Software built to centralize and streamline the creation of structured ID cards — enabling organized, consistent identity management for organizations of all sizes.</a:t>
            </a:r>
          </a:p>
        </p:txBody>
      </p:sp>
      <p:sp>
        <p:nvSpPr>
          <p:cNvPr id="8" name="TextBox 8"/>
          <p:cNvSpPr txBox="1"/>
          <p:nvPr/>
        </p:nvSpPr>
        <p:spPr>
          <a:xfrm>
            <a:off x="6020218" y="6031317"/>
            <a:ext cx="8939707" cy="1017424"/>
          </a:xfrm>
          <a:prstGeom prst="rect">
            <a:avLst/>
          </a:prstGeom>
        </p:spPr>
        <p:txBody>
          <a:bodyPr lIns="0" tIns="0" rIns="0" bIns="0" rtlCol="0" anchor="t">
            <a:spAutoFit/>
          </a:bodyPr>
          <a:lstStyle/>
          <a:p>
            <a:pPr marL="0" lvl="0" indent="0" algn="just">
              <a:lnSpc>
                <a:spcPts val="2721"/>
              </a:lnSpc>
            </a:pPr>
            <a:r>
              <a:rPr lang="en-US" sz="1943">
                <a:solidFill>
                  <a:srgbClr val="225A58"/>
                </a:solidFill>
                <a:latin typeface="Bricolage Grotesque"/>
                <a:ea typeface="Bricolage Grotesque"/>
                <a:cs typeface="Bricolage Grotesque"/>
                <a:sym typeface="Bricolage Grotesque"/>
              </a:rPr>
              <a:t>The system establishes a structured workflow for managing student, employee, and parent records through a unified interface — reducing repetitive manual effort and ensuring consistent ID layouts across all outputs.</a:t>
            </a:r>
          </a:p>
        </p:txBody>
      </p:sp>
      <p:sp>
        <p:nvSpPr>
          <p:cNvPr id="9" name="TextBox 9"/>
          <p:cNvSpPr txBox="1"/>
          <p:nvPr/>
        </p:nvSpPr>
        <p:spPr>
          <a:xfrm>
            <a:off x="7935228" y="7922347"/>
            <a:ext cx="8939707" cy="1017424"/>
          </a:xfrm>
          <a:prstGeom prst="rect">
            <a:avLst/>
          </a:prstGeom>
        </p:spPr>
        <p:txBody>
          <a:bodyPr lIns="0" tIns="0" rIns="0" bIns="0" rtlCol="0" anchor="t">
            <a:spAutoFit/>
          </a:bodyPr>
          <a:lstStyle/>
          <a:p>
            <a:pPr marL="0" lvl="0" indent="0" algn="just">
              <a:lnSpc>
                <a:spcPts val="2721"/>
              </a:lnSpc>
            </a:pPr>
            <a:r>
              <a:rPr lang="en-US" sz="1943">
                <a:solidFill>
                  <a:srgbClr val="225A58"/>
                </a:solidFill>
                <a:latin typeface="Bricolage Grotesque"/>
                <a:ea typeface="Bricolage Grotesque"/>
                <a:cs typeface="Bricolage Grotesque"/>
                <a:sym typeface="Bricolage Grotesque"/>
              </a:rPr>
              <a:t>By organizing information logically and automating document generation, the platform minimizes errors, enforces layout consistency, and provides a scalable foundation for institutional identity management at ADH Enterprises.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24167" y="4506738"/>
            <a:ext cx="3761399" cy="5954917"/>
          </a:xfrm>
          <a:custGeom>
            <a:avLst/>
            <a:gdLst/>
            <a:ahLst/>
            <a:cxnLst/>
            <a:rect l="l" t="t" r="r" b="b"/>
            <a:pathLst>
              <a:path w="3761399" h="5954917">
                <a:moveTo>
                  <a:pt x="3761398" y="0"/>
                </a:moveTo>
                <a:lnTo>
                  <a:pt x="0" y="0"/>
                </a:lnTo>
                <a:lnTo>
                  <a:pt x="0" y="5954918"/>
                </a:lnTo>
                <a:lnTo>
                  <a:pt x="3761398" y="5954918"/>
                </a:lnTo>
                <a:lnTo>
                  <a:pt x="3761398" y="0"/>
                </a:lnTo>
                <a:close/>
              </a:path>
            </a:pathLst>
          </a:custGeom>
          <a:blipFill>
            <a:blip r:embed="rId2">
              <a:extLst>
                <a:ext uri="{96DAC541-7B7A-43D3-8B79-37D633B846F1}">
                  <asvg:svgBlip xmlns:asvg="http://schemas.microsoft.com/office/drawing/2016/SVG/main" xmlns="" r:embed="rId3"/>
                </a:ext>
              </a:extLst>
            </a:blip>
            <a:stretch>
              <a:fillRect t="-30812" r="-286682" b="-69025"/>
            </a:stretch>
          </a:blipFill>
        </p:spPr>
      </p:sp>
      <p:sp>
        <p:nvSpPr>
          <p:cNvPr id="3" name="Freeform 3"/>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r:embed="rId2">
              <a:extLst>
                <a:ext uri="{96DAC541-7B7A-43D3-8B79-37D633B846F1}">
                  <asvg:svgBlip xmlns:asvg="http://schemas.microsoft.com/office/drawing/2016/SVG/main" xmlns="" r:embed="rId3"/>
                </a:ext>
              </a:extLst>
            </a:blip>
            <a:stretch>
              <a:fillRect l="-36235"/>
            </a:stretch>
          </a:blipFill>
        </p:spPr>
      </p:sp>
      <p:grpSp>
        <p:nvGrpSpPr>
          <p:cNvPr id="4" name="Group 4"/>
          <p:cNvGrpSpPr/>
          <p:nvPr/>
        </p:nvGrpSpPr>
        <p:grpSpPr>
          <a:xfrm>
            <a:off x="626933" y="4176936"/>
            <a:ext cx="4389496" cy="4389496"/>
            <a:chOff x="0" y="0"/>
            <a:chExt cx="6350000" cy="6350000"/>
          </a:xfrm>
        </p:grpSpPr>
        <p:sp>
          <p:nvSpPr>
            <p:cNvPr id="5" name="Freeform 5"/>
            <p:cNvSpPr/>
            <p:nvPr/>
          </p:nvSpPr>
          <p:spPr>
            <a:xfrm>
              <a:off x="0" y="0"/>
              <a:ext cx="6350000" cy="6350000"/>
            </a:xfrm>
            <a:custGeom>
              <a:avLst/>
              <a:gdLst/>
              <a:ahLst/>
              <a:cxnLst/>
              <a:rect l="l" t="t" r="r" b="b"/>
              <a:pathLst>
                <a:path w="6350000" h="6350000">
                  <a:moveTo>
                    <a:pt x="0" y="3484334"/>
                  </a:moveTo>
                  <a:lnTo>
                    <a:pt x="0" y="0"/>
                  </a:lnTo>
                  <a:lnTo>
                    <a:pt x="5404803" y="0"/>
                  </a:lnTo>
                  <a:cubicBezTo>
                    <a:pt x="5773928" y="369126"/>
                    <a:pt x="5980874" y="576072"/>
                    <a:pt x="6350000" y="945198"/>
                  </a:cubicBezTo>
                  <a:lnTo>
                    <a:pt x="6350000" y="6350000"/>
                  </a:lnTo>
                  <a:lnTo>
                    <a:pt x="2865666" y="6350000"/>
                  </a:lnTo>
                  <a:cubicBezTo>
                    <a:pt x="1746555" y="5230889"/>
                    <a:pt x="1119111" y="4603445"/>
                    <a:pt x="0" y="3484334"/>
                  </a:cubicBezTo>
                  <a:close/>
                </a:path>
              </a:pathLst>
            </a:custGeom>
            <a:blipFill>
              <a:blip r:embed="rId4"/>
              <a:stretch>
                <a:fillRect/>
              </a:stretch>
            </a:blipFill>
          </p:spPr>
        </p:sp>
      </p:grpSp>
      <p:sp>
        <p:nvSpPr>
          <p:cNvPr id="6" name="TextBox 6"/>
          <p:cNvSpPr txBox="1"/>
          <p:nvPr/>
        </p:nvSpPr>
        <p:spPr>
          <a:xfrm>
            <a:off x="3587497" y="2499258"/>
            <a:ext cx="14700503" cy="769441"/>
          </a:xfrm>
          <a:prstGeom prst="rect">
            <a:avLst/>
          </a:prstGeom>
        </p:spPr>
        <p:txBody>
          <a:bodyPr wrap="square" lIns="0" tIns="0" rIns="0" bIns="0" rtlCol="0" anchor="t">
            <a:spAutoFit/>
          </a:bodyPr>
          <a:lstStyle/>
          <a:p>
            <a:pPr marL="0" lvl="0" indent="0">
              <a:lnSpc>
                <a:spcPts val="5989"/>
              </a:lnSpc>
            </a:pPr>
            <a:r>
              <a:rPr lang="en-US" sz="6509" b="1" dirty="0">
                <a:solidFill>
                  <a:srgbClr val="5A8D1E"/>
                </a:solidFill>
                <a:latin typeface="Monda Bold"/>
                <a:ea typeface="Monda Bold"/>
                <a:cs typeface="Monda Bold"/>
                <a:sym typeface="Monda Bold"/>
              </a:rPr>
              <a:t>PROBLEM &amp; </a:t>
            </a:r>
            <a:r>
              <a:rPr lang="en-US" sz="6509" b="1" dirty="0" smtClean="0">
                <a:solidFill>
                  <a:srgbClr val="5A8D1E"/>
                </a:solidFill>
                <a:latin typeface="Monda Bold"/>
                <a:ea typeface="Monda Bold"/>
                <a:cs typeface="Monda Bold"/>
                <a:sym typeface="Monda Bold"/>
              </a:rPr>
              <a:t>PROJECT OBJECTIVES</a:t>
            </a:r>
            <a:endParaRPr lang="en-US" sz="6509" b="1" dirty="0">
              <a:solidFill>
                <a:srgbClr val="5A8D1E"/>
              </a:solidFill>
              <a:latin typeface="Monda Bold"/>
              <a:ea typeface="Monda Bold"/>
              <a:cs typeface="Monda Bold"/>
              <a:sym typeface="Monda Bold"/>
            </a:endParaRPr>
          </a:p>
        </p:txBody>
      </p:sp>
      <p:sp>
        <p:nvSpPr>
          <p:cNvPr id="7" name="TextBox 7"/>
          <p:cNvSpPr txBox="1"/>
          <p:nvPr/>
        </p:nvSpPr>
        <p:spPr>
          <a:xfrm>
            <a:off x="7935228" y="4138836"/>
            <a:ext cx="8939707" cy="990352"/>
          </a:xfrm>
          <a:prstGeom prst="rect">
            <a:avLst/>
          </a:prstGeom>
        </p:spPr>
        <p:txBody>
          <a:bodyPr lIns="0" tIns="0" rIns="0" bIns="0" rtlCol="0" anchor="t">
            <a:spAutoFit/>
          </a:bodyPr>
          <a:lstStyle/>
          <a:p>
            <a:pPr marL="0" lvl="0" indent="0" algn="just">
              <a:lnSpc>
                <a:spcPts val="2638"/>
              </a:lnSpc>
            </a:pPr>
            <a:r>
              <a:rPr lang="en-US" sz="1884">
                <a:solidFill>
                  <a:srgbClr val="225A58"/>
                </a:solidFill>
                <a:latin typeface="Bricolage Grotesque"/>
                <a:ea typeface="Bricolage Grotesque"/>
                <a:cs typeface="Bricolage Grotesque"/>
                <a:sym typeface="Bricolage Grotesque"/>
              </a:rPr>
              <a:t>• Managing large volumes of student, employee and parent records manually</a:t>
            </a:r>
          </a:p>
          <a:p>
            <a:pPr marL="0" lvl="0" indent="0" algn="just">
              <a:lnSpc>
                <a:spcPts val="2638"/>
              </a:lnSpc>
            </a:pPr>
            <a:r>
              <a:rPr lang="en-US" sz="1884">
                <a:solidFill>
                  <a:srgbClr val="225A58"/>
                </a:solidFill>
                <a:latin typeface="Bricolage Grotesque"/>
                <a:ea typeface="Bricolage Grotesque"/>
                <a:cs typeface="Bricolage Grotesque"/>
                <a:sym typeface="Bricolage Grotesque"/>
              </a:rPr>
              <a:t>• Inconsistent ID card layouts and formatting across record types</a:t>
            </a:r>
          </a:p>
          <a:p>
            <a:pPr marL="0" lvl="0" indent="0" algn="just">
              <a:lnSpc>
                <a:spcPts val="2638"/>
              </a:lnSpc>
            </a:pPr>
            <a:r>
              <a:rPr lang="en-US" sz="1884">
                <a:solidFill>
                  <a:srgbClr val="225A58"/>
                </a:solidFill>
                <a:latin typeface="Bricolage Grotesque"/>
                <a:ea typeface="Bricolage Grotesque"/>
                <a:cs typeface="Bricolage Grotesque"/>
                <a:sym typeface="Bricolage Grotesque"/>
              </a:rPr>
              <a:t>• Frequent corrections due to data entry errors and lack of validation</a:t>
            </a:r>
          </a:p>
        </p:txBody>
      </p:sp>
      <p:sp>
        <p:nvSpPr>
          <p:cNvPr id="8" name="TextBox 8"/>
          <p:cNvSpPr txBox="1"/>
          <p:nvPr/>
        </p:nvSpPr>
        <p:spPr>
          <a:xfrm>
            <a:off x="6020218" y="6031317"/>
            <a:ext cx="8939707" cy="990352"/>
          </a:xfrm>
          <a:prstGeom prst="rect">
            <a:avLst/>
          </a:prstGeom>
        </p:spPr>
        <p:txBody>
          <a:bodyPr lIns="0" tIns="0" rIns="0" bIns="0" rtlCol="0" anchor="t">
            <a:spAutoFit/>
          </a:bodyPr>
          <a:lstStyle/>
          <a:p>
            <a:pPr marL="0" lvl="0" indent="0" algn="just">
              <a:lnSpc>
                <a:spcPts val="2638"/>
              </a:lnSpc>
            </a:pPr>
            <a:r>
              <a:rPr lang="en-US" sz="1884">
                <a:solidFill>
                  <a:srgbClr val="225A58"/>
                </a:solidFill>
                <a:latin typeface="Bricolage Grotesque"/>
                <a:ea typeface="Bricolage Grotesque"/>
                <a:cs typeface="Bricolage Grotesque"/>
                <a:sym typeface="Bricolage Grotesque"/>
              </a:rPr>
              <a:t>• Organize and automate ID generation with a structured digital workflow</a:t>
            </a:r>
          </a:p>
          <a:p>
            <a:pPr marL="0" lvl="0" indent="0" algn="just">
              <a:lnSpc>
                <a:spcPts val="2638"/>
              </a:lnSpc>
            </a:pPr>
            <a:r>
              <a:rPr lang="en-US" sz="1884">
                <a:solidFill>
                  <a:srgbClr val="225A58"/>
                </a:solidFill>
                <a:latin typeface="Bricolage Grotesque"/>
                <a:ea typeface="Bricolage Grotesque"/>
                <a:cs typeface="Bricolage Grotesque"/>
                <a:sym typeface="Bricolage Grotesque"/>
              </a:rPr>
              <a:t>• Provide a clear, intuitive interface for managing all record types</a:t>
            </a:r>
          </a:p>
          <a:p>
            <a:pPr marL="0" lvl="0" indent="0" algn="just">
              <a:lnSpc>
                <a:spcPts val="2638"/>
              </a:lnSpc>
            </a:pPr>
            <a:r>
              <a:rPr lang="en-US" sz="1884">
                <a:solidFill>
                  <a:srgbClr val="225A58"/>
                </a:solidFill>
                <a:latin typeface="Bricolage Grotesque"/>
                <a:ea typeface="Bricolage Grotesque"/>
                <a:cs typeface="Bricolage Grotesque"/>
                <a:sym typeface="Bricolage Grotesque"/>
              </a:rPr>
              <a:t>• Enable logical data organization and future extensibility of the system</a:t>
            </a:r>
          </a:p>
        </p:txBody>
      </p:sp>
      <p:sp>
        <p:nvSpPr>
          <p:cNvPr id="9" name="TextBox 9"/>
          <p:cNvSpPr txBox="1"/>
          <p:nvPr/>
        </p:nvSpPr>
        <p:spPr>
          <a:xfrm>
            <a:off x="7935228" y="7922347"/>
            <a:ext cx="8939707" cy="1323727"/>
          </a:xfrm>
          <a:prstGeom prst="rect">
            <a:avLst/>
          </a:prstGeom>
        </p:spPr>
        <p:txBody>
          <a:bodyPr lIns="0" tIns="0" rIns="0" bIns="0" rtlCol="0" anchor="t">
            <a:spAutoFit/>
          </a:bodyPr>
          <a:lstStyle/>
          <a:p>
            <a:pPr marL="0" lvl="0" indent="0" algn="just">
              <a:lnSpc>
                <a:spcPts val="2638"/>
              </a:lnSpc>
            </a:pPr>
            <a:r>
              <a:rPr lang="en-US" sz="1884">
                <a:solidFill>
                  <a:srgbClr val="225A58"/>
                </a:solidFill>
                <a:latin typeface="Bricolage Grotesque"/>
                <a:ea typeface="Bricolage Grotesque"/>
                <a:cs typeface="Bricolage Grotesque"/>
                <a:sym typeface="Bricolage Grotesque"/>
              </a:rPr>
              <a:t>These challenges highlighted the need for a reliable, scalable solution. The project objectives were defined to address manual inefficiencies, ensure consistency across ID records, and build a system that supports long-term growth at ADH Enterprises.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96517" y="2686685"/>
            <a:ext cx="11372919" cy="867870"/>
          </a:xfrm>
          <a:prstGeom prst="rect">
            <a:avLst/>
          </a:prstGeom>
        </p:spPr>
        <p:txBody>
          <a:bodyPr lIns="0" tIns="0" rIns="0" bIns="0" rtlCol="0" anchor="t">
            <a:spAutoFit/>
          </a:bodyPr>
          <a:lstStyle/>
          <a:p>
            <a:pPr marL="0" lvl="0" indent="0" algn="l">
              <a:lnSpc>
                <a:spcPts val="6435"/>
              </a:lnSpc>
            </a:pPr>
            <a:r>
              <a:rPr lang="en-US" sz="6995" b="1">
                <a:solidFill>
                  <a:srgbClr val="5A8D1E"/>
                </a:solidFill>
                <a:latin typeface="Monda Bold"/>
                <a:ea typeface="Monda Bold"/>
                <a:cs typeface="Monda Bold"/>
                <a:sym typeface="Monda Bold"/>
              </a:rPr>
              <a:t>MY CONTRIBUTION</a:t>
            </a:r>
          </a:p>
        </p:txBody>
      </p:sp>
      <p:sp>
        <p:nvSpPr>
          <p:cNvPr id="3" name="Freeform 3"/>
          <p:cNvSpPr/>
          <p:nvPr/>
        </p:nvSpPr>
        <p:spPr>
          <a:xfrm flipV="1">
            <a:off x="13529354" y="537418"/>
            <a:ext cx="9517292" cy="10608512"/>
          </a:xfrm>
          <a:custGeom>
            <a:avLst/>
            <a:gdLst/>
            <a:ahLst/>
            <a:cxnLst/>
            <a:rect l="l" t="t" r="r" b="b"/>
            <a:pathLst>
              <a:path w="9517292" h="10608512">
                <a:moveTo>
                  <a:pt x="0" y="10608512"/>
                </a:moveTo>
                <a:lnTo>
                  <a:pt x="9517292" y="10608512"/>
                </a:lnTo>
                <a:lnTo>
                  <a:pt x="9517292" y="0"/>
                </a:lnTo>
                <a:lnTo>
                  <a:pt x="0" y="0"/>
                </a:lnTo>
                <a:lnTo>
                  <a:pt x="0" y="10608512"/>
                </a:lnTo>
                <a:close/>
              </a:path>
            </a:pathLst>
          </a:custGeom>
          <a:blipFill>
            <a:blip r:embed="rId2">
              <a:extLst>
                <a:ext uri="{96DAC541-7B7A-43D3-8B79-37D633B846F1}">
                  <asvg:svgBlip xmlns:asvg="http://schemas.microsoft.com/office/drawing/2016/SVG/main" xmlns="" r:embed="rId3"/>
                </a:ext>
              </a:extLst>
            </a:blip>
            <a:stretch>
              <a:fillRect l="-36235"/>
            </a:stretch>
          </a:blipFill>
        </p:spPr>
      </p:sp>
      <p:grpSp>
        <p:nvGrpSpPr>
          <p:cNvPr id="4" name="Group 4"/>
          <p:cNvGrpSpPr/>
          <p:nvPr/>
        </p:nvGrpSpPr>
        <p:grpSpPr>
          <a:xfrm>
            <a:off x="10818695" y="4011930"/>
            <a:ext cx="6440605" cy="5526520"/>
            <a:chOff x="0" y="0"/>
            <a:chExt cx="6269228" cy="5379466"/>
          </a:xfrm>
        </p:grpSpPr>
        <p:sp>
          <p:nvSpPr>
            <p:cNvPr id="5" name="Freeform 5"/>
            <p:cNvSpPr/>
            <p:nvPr/>
          </p:nvSpPr>
          <p:spPr>
            <a:xfrm>
              <a:off x="12" y="76"/>
              <a:ext cx="6269216" cy="5379390"/>
            </a:xfrm>
            <a:custGeom>
              <a:avLst/>
              <a:gdLst/>
              <a:ahLst/>
              <a:cxnLst/>
              <a:rect l="l" t="t" r="r" b="b"/>
              <a:pathLst>
                <a:path w="6269216" h="5379390">
                  <a:moveTo>
                    <a:pt x="5977116" y="5379390"/>
                  </a:moveTo>
                  <a:cubicBezTo>
                    <a:pt x="6137771" y="5379390"/>
                    <a:pt x="6269216" y="5247945"/>
                    <a:pt x="6269216" y="5087290"/>
                  </a:cubicBezTo>
                  <a:lnTo>
                    <a:pt x="6269216" y="237922"/>
                  </a:lnTo>
                  <a:cubicBezTo>
                    <a:pt x="6269216" y="77267"/>
                    <a:pt x="6140565" y="-27000"/>
                    <a:pt x="5983466" y="6147"/>
                  </a:cubicBezTo>
                  <a:lnTo>
                    <a:pt x="204966" y="1224966"/>
                  </a:lnTo>
                  <a:cubicBezTo>
                    <a:pt x="47740" y="1258113"/>
                    <a:pt x="-37350" y="1409243"/>
                    <a:pt x="15863" y="1560881"/>
                  </a:cubicBezTo>
                  <a:lnTo>
                    <a:pt x="1258431" y="5103673"/>
                  </a:lnTo>
                  <a:cubicBezTo>
                    <a:pt x="1311644" y="5255311"/>
                    <a:pt x="1486523" y="5379263"/>
                    <a:pt x="1647178" y="5379263"/>
                  </a:cubicBezTo>
                  <a:lnTo>
                    <a:pt x="5977116" y="5379390"/>
                  </a:lnTo>
                  <a:close/>
                </a:path>
              </a:pathLst>
            </a:custGeom>
            <a:blipFill>
              <a:blip r:embed="rId4"/>
              <a:stretch>
                <a:fillRect l="-105" r="-105"/>
              </a:stretch>
            </a:blipFill>
          </p:spPr>
        </p:sp>
      </p:grpSp>
      <p:sp>
        <p:nvSpPr>
          <p:cNvPr id="6" name="Freeform 6"/>
          <p:cNvSpPr/>
          <p:nvPr/>
        </p:nvSpPr>
        <p:spPr>
          <a:xfrm flipH="1">
            <a:off x="111018" y="-1203895"/>
            <a:ext cx="3761399" cy="5954917"/>
          </a:xfrm>
          <a:custGeom>
            <a:avLst/>
            <a:gdLst/>
            <a:ahLst/>
            <a:cxnLst/>
            <a:rect l="l" t="t" r="r" b="b"/>
            <a:pathLst>
              <a:path w="3761399" h="5954917">
                <a:moveTo>
                  <a:pt x="3761398" y="0"/>
                </a:moveTo>
                <a:lnTo>
                  <a:pt x="0" y="0"/>
                </a:lnTo>
                <a:lnTo>
                  <a:pt x="0" y="5954917"/>
                </a:lnTo>
                <a:lnTo>
                  <a:pt x="3761398" y="5954917"/>
                </a:lnTo>
                <a:lnTo>
                  <a:pt x="3761398" y="0"/>
                </a:lnTo>
                <a:close/>
              </a:path>
            </a:pathLst>
          </a:custGeom>
          <a:blipFill>
            <a:blip r:embed="rId2">
              <a:extLst>
                <a:ext uri="{96DAC541-7B7A-43D3-8B79-37D633B846F1}">
                  <asvg:svgBlip xmlns:asvg="http://schemas.microsoft.com/office/drawing/2016/SVG/main" xmlns="" r:embed="rId3"/>
                </a:ext>
              </a:extLst>
            </a:blip>
            <a:stretch>
              <a:fillRect t="-30812" r="-286682" b="-69025"/>
            </a:stretch>
          </a:blipFill>
        </p:spPr>
      </p:sp>
      <p:sp>
        <p:nvSpPr>
          <p:cNvPr id="7" name="TextBox 7"/>
          <p:cNvSpPr txBox="1"/>
          <p:nvPr/>
        </p:nvSpPr>
        <p:spPr>
          <a:xfrm>
            <a:off x="1028700" y="4903622"/>
            <a:ext cx="8939707" cy="1217610"/>
          </a:xfrm>
          <a:prstGeom prst="rect">
            <a:avLst/>
          </a:prstGeom>
        </p:spPr>
        <p:txBody>
          <a:bodyPr lIns="0" tIns="0" rIns="0" bIns="0" rtlCol="0" anchor="t">
            <a:spAutoFit/>
          </a:bodyPr>
          <a:lstStyle/>
          <a:p>
            <a:pPr marL="0" lvl="0" indent="0" algn="just">
              <a:lnSpc>
                <a:spcPts val="3237"/>
              </a:lnSpc>
            </a:pPr>
            <a:r>
              <a:rPr lang="en-US" sz="2312">
                <a:solidFill>
                  <a:srgbClr val="225A58"/>
                </a:solidFill>
                <a:latin typeface="Bricolage Grotesque"/>
                <a:ea typeface="Bricolage Grotesque"/>
                <a:cs typeface="Bricolage Grotesque"/>
                <a:sym typeface="Bricolage Grotesque"/>
              </a:rPr>
              <a:t>• Contributed to product ideation and early concept development</a:t>
            </a:r>
          </a:p>
          <a:p>
            <a:pPr marL="0" lvl="0" indent="0" algn="just">
              <a:lnSpc>
                <a:spcPts val="3237"/>
              </a:lnSpc>
            </a:pPr>
            <a:r>
              <a:rPr lang="en-US" sz="2312">
                <a:solidFill>
                  <a:srgbClr val="225A58"/>
                </a:solidFill>
                <a:latin typeface="Bricolage Grotesque"/>
                <a:ea typeface="Bricolage Grotesque"/>
                <a:cs typeface="Bricolage Grotesque"/>
                <a:sym typeface="Bricolage Grotesque"/>
              </a:rPr>
              <a:t>• Participated in planning and defining the overall product structure</a:t>
            </a:r>
          </a:p>
        </p:txBody>
      </p:sp>
      <p:sp>
        <p:nvSpPr>
          <p:cNvPr id="8" name="TextBox 8"/>
          <p:cNvSpPr txBox="1"/>
          <p:nvPr/>
        </p:nvSpPr>
        <p:spPr>
          <a:xfrm>
            <a:off x="1028700" y="6556115"/>
            <a:ext cx="8939707" cy="1627185"/>
          </a:xfrm>
          <a:prstGeom prst="rect">
            <a:avLst/>
          </a:prstGeom>
        </p:spPr>
        <p:txBody>
          <a:bodyPr lIns="0" tIns="0" rIns="0" bIns="0" rtlCol="0" anchor="t">
            <a:spAutoFit/>
          </a:bodyPr>
          <a:lstStyle/>
          <a:p>
            <a:pPr marL="0" lvl="0" indent="0" algn="just">
              <a:lnSpc>
                <a:spcPts val="3237"/>
              </a:lnSpc>
            </a:pPr>
            <a:r>
              <a:rPr lang="en-US" sz="2312">
                <a:solidFill>
                  <a:srgbClr val="225A58"/>
                </a:solidFill>
                <a:latin typeface="Bricolage Grotesque"/>
                <a:ea typeface="Bricolage Grotesque"/>
                <a:cs typeface="Bricolage Grotesque"/>
                <a:sym typeface="Bricolage Grotesque"/>
              </a:rPr>
              <a:t>• Involved in front-end contribution and layout/workflow discussions</a:t>
            </a:r>
          </a:p>
          <a:p>
            <a:pPr marL="0" lvl="0" indent="0" algn="just">
              <a:lnSpc>
                <a:spcPts val="3237"/>
              </a:lnSpc>
            </a:pPr>
            <a:r>
              <a:rPr lang="en-US" sz="2312">
                <a:solidFill>
                  <a:srgbClr val="225A58"/>
                </a:solidFill>
                <a:latin typeface="Bricolage Grotesque"/>
                <a:ea typeface="Bricolage Grotesque"/>
                <a:cs typeface="Bricolage Grotesque"/>
                <a:sym typeface="Bricolage Grotesque"/>
              </a:rPr>
              <a:t>• Managed database structure and supported data organization efforts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24167" y="4506738"/>
            <a:ext cx="3761399" cy="5954917"/>
          </a:xfrm>
          <a:custGeom>
            <a:avLst/>
            <a:gdLst/>
            <a:ahLst/>
            <a:cxnLst/>
            <a:rect l="l" t="t" r="r" b="b"/>
            <a:pathLst>
              <a:path w="3761399" h="5954917">
                <a:moveTo>
                  <a:pt x="3761398" y="0"/>
                </a:moveTo>
                <a:lnTo>
                  <a:pt x="0" y="0"/>
                </a:lnTo>
                <a:lnTo>
                  <a:pt x="0" y="5954918"/>
                </a:lnTo>
                <a:lnTo>
                  <a:pt x="3761398" y="5954918"/>
                </a:lnTo>
                <a:lnTo>
                  <a:pt x="3761398" y="0"/>
                </a:lnTo>
                <a:close/>
              </a:path>
            </a:pathLst>
          </a:custGeom>
          <a:blipFill>
            <a:blip r:embed="rId2">
              <a:extLst>
                <a:ext uri="{96DAC541-7B7A-43D3-8B79-37D633B846F1}">
                  <asvg:svgBlip xmlns:asvg="http://schemas.microsoft.com/office/drawing/2016/SVG/main" xmlns="" r:embed="rId3"/>
                </a:ext>
              </a:extLst>
            </a:blip>
            <a:stretch>
              <a:fillRect t="-30812" r="-286682" b="-69025"/>
            </a:stretch>
          </a:blipFill>
        </p:spPr>
      </p:sp>
      <p:sp>
        <p:nvSpPr>
          <p:cNvPr id="3" name="Freeform 3"/>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r:embed="rId2">
              <a:extLst>
                <a:ext uri="{96DAC541-7B7A-43D3-8B79-37D633B846F1}">
                  <asvg:svgBlip xmlns:asvg="http://schemas.microsoft.com/office/drawing/2016/SVG/main" xmlns="" r:embed="rId3"/>
                </a:ext>
              </a:extLst>
            </a:blip>
            <a:stretch>
              <a:fillRect l="-36235"/>
            </a:stretch>
          </a:blipFill>
        </p:spPr>
      </p:sp>
      <p:grpSp>
        <p:nvGrpSpPr>
          <p:cNvPr id="4" name="Group 4"/>
          <p:cNvGrpSpPr/>
          <p:nvPr/>
        </p:nvGrpSpPr>
        <p:grpSpPr>
          <a:xfrm>
            <a:off x="626933" y="4176936"/>
            <a:ext cx="4389496" cy="4389496"/>
            <a:chOff x="0" y="0"/>
            <a:chExt cx="6350000" cy="6350000"/>
          </a:xfrm>
        </p:grpSpPr>
        <p:sp>
          <p:nvSpPr>
            <p:cNvPr id="5" name="Freeform 5"/>
            <p:cNvSpPr/>
            <p:nvPr/>
          </p:nvSpPr>
          <p:spPr>
            <a:xfrm>
              <a:off x="0" y="0"/>
              <a:ext cx="6350000" cy="6350000"/>
            </a:xfrm>
            <a:custGeom>
              <a:avLst/>
              <a:gdLst/>
              <a:ahLst/>
              <a:cxnLst/>
              <a:rect l="l" t="t" r="r" b="b"/>
              <a:pathLst>
                <a:path w="6350000" h="6350000">
                  <a:moveTo>
                    <a:pt x="0" y="3484334"/>
                  </a:moveTo>
                  <a:lnTo>
                    <a:pt x="0" y="0"/>
                  </a:lnTo>
                  <a:lnTo>
                    <a:pt x="5404803" y="0"/>
                  </a:lnTo>
                  <a:cubicBezTo>
                    <a:pt x="5773928" y="369126"/>
                    <a:pt x="5980874" y="576072"/>
                    <a:pt x="6350000" y="945198"/>
                  </a:cubicBezTo>
                  <a:lnTo>
                    <a:pt x="6350000" y="6350000"/>
                  </a:lnTo>
                  <a:lnTo>
                    <a:pt x="2865666" y="6350000"/>
                  </a:lnTo>
                  <a:cubicBezTo>
                    <a:pt x="1746555" y="5230889"/>
                    <a:pt x="1119111" y="4603445"/>
                    <a:pt x="0" y="3484334"/>
                  </a:cubicBezTo>
                  <a:close/>
                </a:path>
              </a:pathLst>
            </a:custGeom>
            <a:blipFill>
              <a:blip r:embed="rId4"/>
              <a:stretch>
                <a:fillRect/>
              </a:stretch>
            </a:blipFill>
          </p:spPr>
        </p:sp>
      </p:grpSp>
      <p:sp>
        <p:nvSpPr>
          <p:cNvPr id="6" name="TextBox 6"/>
          <p:cNvSpPr txBox="1"/>
          <p:nvPr/>
        </p:nvSpPr>
        <p:spPr>
          <a:xfrm>
            <a:off x="3915647" y="2561496"/>
            <a:ext cx="14381878" cy="1119916"/>
          </a:xfrm>
          <a:prstGeom prst="rect">
            <a:avLst/>
          </a:prstGeom>
        </p:spPr>
        <p:txBody>
          <a:bodyPr lIns="0" tIns="0" rIns="0" bIns="0" rtlCol="0" anchor="t">
            <a:spAutoFit/>
          </a:bodyPr>
          <a:lstStyle/>
          <a:p>
            <a:pPr marL="0" lvl="0" indent="0" algn="l">
              <a:lnSpc>
                <a:spcPts val="8274"/>
              </a:lnSpc>
            </a:pPr>
            <a:r>
              <a:rPr lang="en-US" sz="8993" b="1">
                <a:solidFill>
                  <a:srgbClr val="5A8D1E"/>
                </a:solidFill>
                <a:latin typeface="Monda Bold"/>
                <a:ea typeface="Monda Bold"/>
                <a:cs typeface="Monda Bold"/>
                <a:sym typeface="Monda Bold"/>
              </a:rPr>
              <a:t>SYSTEM STRUCTURE</a:t>
            </a:r>
          </a:p>
        </p:txBody>
      </p:sp>
      <p:sp>
        <p:nvSpPr>
          <p:cNvPr id="7" name="TextBox 7"/>
          <p:cNvSpPr txBox="1"/>
          <p:nvPr/>
        </p:nvSpPr>
        <p:spPr>
          <a:xfrm>
            <a:off x="7935228" y="4138836"/>
            <a:ext cx="8939707" cy="1433852"/>
          </a:xfrm>
          <a:prstGeom prst="rect">
            <a:avLst/>
          </a:prstGeom>
        </p:spPr>
        <p:txBody>
          <a:bodyPr lIns="0" tIns="0" rIns="0" bIns="0" rtlCol="0" anchor="t">
            <a:spAutoFit/>
          </a:bodyPr>
          <a:lstStyle/>
          <a:p>
            <a:pPr marL="0" lvl="0" indent="0" algn="just">
              <a:lnSpc>
                <a:spcPts val="2868"/>
              </a:lnSpc>
            </a:pPr>
            <a:r>
              <a:rPr lang="en-US" sz="2049">
                <a:solidFill>
                  <a:srgbClr val="225A58"/>
                </a:solidFill>
                <a:latin typeface="Bricolage Grotesque"/>
                <a:ea typeface="Bricolage Grotesque"/>
                <a:cs typeface="Bricolage Grotesque"/>
                <a:sym typeface="Bricolage Grotesque"/>
              </a:rPr>
              <a:t>Product Idea → Planning &amp; Structure → Layout &amp; UI: Hunain contributed from the earliest stages — initiating the product concept, shaping the planning and structural foundation, and participating in layout and user interface discussions to define how the system would look and function.</a:t>
            </a:r>
          </a:p>
        </p:txBody>
      </p:sp>
      <p:sp>
        <p:nvSpPr>
          <p:cNvPr id="8" name="TextBox 8"/>
          <p:cNvSpPr txBox="1"/>
          <p:nvPr/>
        </p:nvSpPr>
        <p:spPr>
          <a:xfrm>
            <a:off x="6020218" y="6031317"/>
            <a:ext cx="8939707" cy="1433852"/>
          </a:xfrm>
          <a:prstGeom prst="rect">
            <a:avLst/>
          </a:prstGeom>
        </p:spPr>
        <p:txBody>
          <a:bodyPr lIns="0" tIns="0" rIns="0" bIns="0" rtlCol="0" anchor="t">
            <a:spAutoFit/>
          </a:bodyPr>
          <a:lstStyle/>
          <a:p>
            <a:pPr marL="0" lvl="0" indent="0" algn="just">
              <a:lnSpc>
                <a:spcPts val="2868"/>
              </a:lnSpc>
            </a:pPr>
            <a:r>
              <a:rPr lang="en-US" sz="2049">
                <a:solidFill>
                  <a:srgbClr val="225A58"/>
                </a:solidFill>
                <a:latin typeface="Bricolage Grotesque"/>
                <a:ea typeface="Bricolage Grotesque"/>
                <a:cs typeface="Bricolage Grotesque"/>
                <a:sym typeface="Bricolage Grotesque"/>
              </a:rPr>
              <a:t>User Workflow → Data Management: Hunain helped define the logical user workflow — how operators would navigate the system — and contributed to database management, ensuring information was organized, accessible and structured for reliable ID record handling.</a:t>
            </a:r>
          </a:p>
        </p:txBody>
      </p:sp>
      <p:sp>
        <p:nvSpPr>
          <p:cNvPr id="9" name="TextBox 9"/>
          <p:cNvSpPr txBox="1"/>
          <p:nvPr/>
        </p:nvSpPr>
        <p:spPr>
          <a:xfrm>
            <a:off x="7935228" y="7922347"/>
            <a:ext cx="8939707" cy="1433852"/>
          </a:xfrm>
          <a:prstGeom prst="rect">
            <a:avLst/>
          </a:prstGeom>
        </p:spPr>
        <p:txBody>
          <a:bodyPr lIns="0" tIns="0" rIns="0" bIns="0" rtlCol="0" anchor="t">
            <a:spAutoFit/>
          </a:bodyPr>
          <a:lstStyle/>
          <a:p>
            <a:pPr marL="0" lvl="0" indent="0" algn="just">
              <a:lnSpc>
                <a:spcPts val="2868"/>
              </a:lnSpc>
            </a:pPr>
            <a:r>
              <a:rPr lang="en-US" sz="2049">
                <a:solidFill>
                  <a:srgbClr val="225A58"/>
                </a:solidFill>
                <a:latin typeface="Bricolage Grotesque"/>
                <a:ea typeface="Bricolage Grotesque"/>
                <a:cs typeface="Bricolage Grotesque"/>
                <a:sym typeface="Bricolage Grotesque"/>
              </a:rPr>
              <a:t>ID Generation &amp; End-to-End Contribution: Across all six stages of the product lifecycle, Hunain served as an active contributor — bridging ideation, structure, interface, workflow and data into a cohesive ID generation system at ADH Enterprises.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24167" y="4506738"/>
            <a:ext cx="3761399" cy="5954917"/>
          </a:xfrm>
          <a:custGeom>
            <a:avLst/>
            <a:gdLst/>
            <a:ahLst/>
            <a:cxnLst/>
            <a:rect l="l" t="t" r="r" b="b"/>
            <a:pathLst>
              <a:path w="3761399" h="5954917">
                <a:moveTo>
                  <a:pt x="3761398" y="0"/>
                </a:moveTo>
                <a:lnTo>
                  <a:pt x="0" y="0"/>
                </a:lnTo>
                <a:lnTo>
                  <a:pt x="0" y="5954918"/>
                </a:lnTo>
                <a:lnTo>
                  <a:pt x="3761398" y="5954918"/>
                </a:lnTo>
                <a:lnTo>
                  <a:pt x="3761398" y="0"/>
                </a:lnTo>
                <a:close/>
              </a:path>
            </a:pathLst>
          </a:custGeom>
          <a:blipFill>
            <a:blip r:embed="rId2">
              <a:extLst>
                <a:ext uri="{96DAC541-7B7A-43D3-8B79-37D633B846F1}">
                  <asvg:svgBlip xmlns:asvg="http://schemas.microsoft.com/office/drawing/2016/SVG/main" xmlns="" r:embed="rId3"/>
                </a:ext>
              </a:extLst>
            </a:blip>
            <a:stretch>
              <a:fillRect t="-30812" r="-286682" b="-69025"/>
            </a:stretch>
          </a:blipFill>
        </p:spPr>
      </p:sp>
      <p:sp>
        <p:nvSpPr>
          <p:cNvPr id="3" name="Freeform 3"/>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r:embed="rId2">
              <a:extLst>
                <a:ext uri="{96DAC541-7B7A-43D3-8B79-37D633B846F1}">
                  <asvg:svgBlip xmlns:asvg="http://schemas.microsoft.com/office/drawing/2016/SVG/main" xmlns="" r:embed="rId3"/>
                </a:ext>
              </a:extLst>
            </a:blip>
            <a:stretch>
              <a:fillRect l="-36235"/>
            </a:stretch>
          </a:blipFill>
        </p:spPr>
      </p:sp>
      <p:grpSp>
        <p:nvGrpSpPr>
          <p:cNvPr id="4" name="Group 4"/>
          <p:cNvGrpSpPr/>
          <p:nvPr/>
        </p:nvGrpSpPr>
        <p:grpSpPr>
          <a:xfrm>
            <a:off x="626933" y="4176936"/>
            <a:ext cx="4389496" cy="4389496"/>
            <a:chOff x="0" y="0"/>
            <a:chExt cx="6350000" cy="6350000"/>
          </a:xfrm>
        </p:grpSpPr>
        <p:sp>
          <p:nvSpPr>
            <p:cNvPr id="5" name="Freeform 5"/>
            <p:cNvSpPr/>
            <p:nvPr/>
          </p:nvSpPr>
          <p:spPr>
            <a:xfrm>
              <a:off x="0" y="0"/>
              <a:ext cx="6350000" cy="6350000"/>
            </a:xfrm>
            <a:custGeom>
              <a:avLst/>
              <a:gdLst/>
              <a:ahLst/>
              <a:cxnLst/>
              <a:rect l="l" t="t" r="r" b="b"/>
              <a:pathLst>
                <a:path w="6350000" h="6350000">
                  <a:moveTo>
                    <a:pt x="0" y="3484334"/>
                  </a:moveTo>
                  <a:lnTo>
                    <a:pt x="0" y="0"/>
                  </a:lnTo>
                  <a:lnTo>
                    <a:pt x="5404803" y="0"/>
                  </a:lnTo>
                  <a:cubicBezTo>
                    <a:pt x="5773928" y="369126"/>
                    <a:pt x="5980874" y="576072"/>
                    <a:pt x="6350000" y="945198"/>
                  </a:cubicBezTo>
                  <a:lnTo>
                    <a:pt x="6350000" y="6350000"/>
                  </a:lnTo>
                  <a:lnTo>
                    <a:pt x="2865666" y="6350000"/>
                  </a:lnTo>
                  <a:cubicBezTo>
                    <a:pt x="1746555" y="5230889"/>
                    <a:pt x="1119111" y="4603445"/>
                    <a:pt x="0" y="3484334"/>
                  </a:cubicBezTo>
                  <a:close/>
                </a:path>
              </a:pathLst>
            </a:custGeom>
            <a:blipFill>
              <a:blip r:embed="rId4"/>
              <a:stretch>
                <a:fillRect/>
              </a:stretch>
            </a:blipFill>
          </p:spPr>
        </p:sp>
      </p:grpSp>
      <p:sp>
        <p:nvSpPr>
          <p:cNvPr id="6" name="TextBox 6"/>
          <p:cNvSpPr txBox="1"/>
          <p:nvPr/>
        </p:nvSpPr>
        <p:spPr>
          <a:xfrm>
            <a:off x="3717931" y="2170971"/>
            <a:ext cx="14570069" cy="892657"/>
          </a:xfrm>
          <a:prstGeom prst="rect">
            <a:avLst/>
          </a:prstGeom>
        </p:spPr>
        <p:txBody>
          <a:bodyPr lIns="0" tIns="0" rIns="0" bIns="0" rtlCol="0" anchor="t">
            <a:spAutoFit/>
          </a:bodyPr>
          <a:lstStyle/>
          <a:p>
            <a:pPr marL="0" lvl="0" indent="0" algn="l">
              <a:lnSpc>
                <a:spcPts val="6583"/>
              </a:lnSpc>
            </a:pPr>
            <a:r>
              <a:rPr lang="en-US" sz="7156" b="1">
                <a:solidFill>
                  <a:srgbClr val="5A8D1E"/>
                </a:solidFill>
                <a:latin typeface="Monda Bold"/>
                <a:ea typeface="Monda Bold"/>
                <a:cs typeface="Monda Bold"/>
                <a:sym typeface="Monda Bold"/>
              </a:rPr>
              <a:t>DEVELOPMENT METHODOLOGY</a:t>
            </a:r>
          </a:p>
        </p:txBody>
      </p:sp>
      <p:sp>
        <p:nvSpPr>
          <p:cNvPr id="7" name="TextBox 7"/>
          <p:cNvSpPr txBox="1"/>
          <p:nvPr/>
        </p:nvSpPr>
        <p:spPr>
          <a:xfrm>
            <a:off x="7935228" y="4138836"/>
            <a:ext cx="8939707" cy="1359878"/>
          </a:xfrm>
          <a:prstGeom prst="rect">
            <a:avLst/>
          </a:prstGeom>
        </p:spPr>
        <p:txBody>
          <a:bodyPr lIns="0" tIns="0" rIns="0" bIns="0" rtlCol="0" anchor="t">
            <a:spAutoFit/>
          </a:bodyPr>
          <a:lstStyle/>
          <a:p>
            <a:pPr marL="0" lvl="0" indent="0" algn="just">
              <a:lnSpc>
                <a:spcPts val="2746"/>
              </a:lnSpc>
            </a:pPr>
            <a:r>
              <a:rPr lang="en-US" sz="1961">
                <a:solidFill>
                  <a:srgbClr val="225A58"/>
                </a:solidFill>
                <a:latin typeface="Bricolage Grotesque"/>
                <a:ea typeface="Bricolage Grotesque"/>
                <a:cs typeface="Bricolage Grotesque"/>
                <a:sym typeface="Bricolage Grotesque"/>
              </a:rPr>
              <a:t>The development process began with Product Ideation, where the core concept for the ID Generation Software was defined, followed by Planning and Product Structure to establish a clear roadmap, module breakdown, and system architecture for ADH Enterprises.</a:t>
            </a:r>
          </a:p>
        </p:txBody>
      </p:sp>
      <p:sp>
        <p:nvSpPr>
          <p:cNvPr id="8" name="TextBox 8"/>
          <p:cNvSpPr txBox="1"/>
          <p:nvPr/>
        </p:nvSpPr>
        <p:spPr>
          <a:xfrm>
            <a:off x="6020218" y="6031317"/>
            <a:ext cx="8939707" cy="1359878"/>
          </a:xfrm>
          <a:prstGeom prst="rect">
            <a:avLst/>
          </a:prstGeom>
        </p:spPr>
        <p:txBody>
          <a:bodyPr lIns="0" tIns="0" rIns="0" bIns="0" rtlCol="0" anchor="t">
            <a:spAutoFit/>
          </a:bodyPr>
          <a:lstStyle/>
          <a:p>
            <a:pPr marL="0" lvl="0" indent="0" algn="just">
              <a:lnSpc>
                <a:spcPts val="2746"/>
              </a:lnSpc>
            </a:pPr>
            <a:r>
              <a:rPr lang="en-US" sz="1961">
                <a:solidFill>
                  <a:srgbClr val="225A58"/>
                </a:solidFill>
                <a:latin typeface="Bricolage Grotesque"/>
                <a:ea typeface="Bricolage Grotesque"/>
                <a:cs typeface="Bricolage Grotesque"/>
                <a:sym typeface="Bricolage Grotesque"/>
              </a:rPr>
              <a:t>Layout and Workflow design translated the planned structure into a coherent user interface and logical process flow, ensuring each step of ID generation was intuitive. Front-End Contribution then brought these designs to life using React component-driven architecture.</a:t>
            </a:r>
          </a:p>
        </p:txBody>
      </p:sp>
      <p:sp>
        <p:nvSpPr>
          <p:cNvPr id="9" name="TextBox 9"/>
          <p:cNvSpPr txBox="1"/>
          <p:nvPr/>
        </p:nvSpPr>
        <p:spPr>
          <a:xfrm>
            <a:off x="7935228" y="7922347"/>
            <a:ext cx="8939707" cy="1016978"/>
          </a:xfrm>
          <a:prstGeom prst="rect">
            <a:avLst/>
          </a:prstGeom>
        </p:spPr>
        <p:txBody>
          <a:bodyPr lIns="0" tIns="0" rIns="0" bIns="0" rtlCol="0" anchor="t">
            <a:spAutoFit/>
          </a:bodyPr>
          <a:lstStyle/>
          <a:p>
            <a:pPr marL="0" lvl="0" indent="0" algn="just">
              <a:lnSpc>
                <a:spcPts val="2746"/>
              </a:lnSpc>
            </a:pPr>
            <a:r>
              <a:rPr lang="en-US" sz="1961">
                <a:solidFill>
                  <a:srgbClr val="225A58"/>
                </a:solidFill>
                <a:latin typeface="Bricolage Grotesque"/>
                <a:ea typeface="Bricolage Grotesque"/>
                <a:cs typeface="Bricolage Grotesque"/>
                <a:sym typeface="Bricolage Grotesque"/>
              </a:rPr>
              <a:t>Database Management formed the final pillar of the methodology, integrating PostgreSQL to handle structured data storage, CRUD operations, and reliable record management — completing the end-to-end development pipeline.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24167" y="4506738"/>
            <a:ext cx="3761399" cy="5954917"/>
          </a:xfrm>
          <a:custGeom>
            <a:avLst/>
            <a:gdLst/>
            <a:ahLst/>
            <a:cxnLst/>
            <a:rect l="l" t="t" r="r" b="b"/>
            <a:pathLst>
              <a:path w="3761399" h="5954917">
                <a:moveTo>
                  <a:pt x="3761398" y="0"/>
                </a:moveTo>
                <a:lnTo>
                  <a:pt x="0" y="0"/>
                </a:lnTo>
                <a:lnTo>
                  <a:pt x="0" y="5954918"/>
                </a:lnTo>
                <a:lnTo>
                  <a:pt x="3761398" y="5954918"/>
                </a:lnTo>
                <a:lnTo>
                  <a:pt x="3761398" y="0"/>
                </a:lnTo>
                <a:close/>
              </a:path>
            </a:pathLst>
          </a:custGeom>
          <a:blipFill>
            <a:blip r:embed="rId2">
              <a:extLst>
                <a:ext uri="{96DAC541-7B7A-43D3-8B79-37D633B846F1}">
                  <asvg:svgBlip xmlns:asvg="http://schemas.microsoft.com/office/drawing/2016/SVG/main" xmlns="" r:embed="rId3"/>
                </a:ext>
              </a:extLst>
            </a:blip>
            <a:stretch>
              <a:fillRect t="-30812" r="-286682" b="-69025"/>
            </a:stretch>
          </a:blipFill>
        </p:spPr>
      </p:sp>
      <p:sp>
        <p:nvSpPr>
          <p:cNvPr id="3" name="Freeform 3"/>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r:embed="rId2">
              <a:extLst>
                <a:ext uri="{96DAC541-7B7A-43D3-8B79-37D633B846F1}">
                  <asvg:svgBlip xmlns:asvg="http://schemas.microsoft.com/office/drawing/2016/SVG/main" xmlns="" r:embed="rId3"/>
                </a:ext>
              </a:extLst>
            </a:blip>
            <a:stretch>
              <a:fillRect l="-36235"/>
            </a:stretch>
          </a:blipFill>
        </p:spPr>
      </p:sp>
      <p:grpSp>
        <p:nvGrpSpPr>
          <p:cNvPr id="4" name="Group 4"/>
          <p:cNvGrpSpPr/>
          <p:nvPr/>
        </p:nvGrpSpPr>
        <p:grpSpPr>
          <a:xfrm>
            <a:off x="626933" y="4176936"/>
            <a:ext cx="4389496" cy="4389496"/>
            <a:chOff x="0" y="0"/>
            <a:chExt cx="6350000" cy="6350000"/>
          </a:xfrm>
        </p:grpSpPr>
        <p:sp>
          <p:nvSpPr>
            <p:cNvPr id="5" name="Freeform 5"/>
            <p:cNvSpPr/>
            <p:nvPr/>
          </p:nvSpPr>
          <p:spPr>
            <a:xfrm>
              <a:off x="0" y="0"/>
              <a:ext cx="6350000" cy="6350000"/>
            </a:xfrm>
            <a:custGeom>
              <a:avLst/>
              <a:gdLst/>
              <a:ahLst/>
              <a:cxnLst/>
              <a:rect l="l" t="t" r="r" b="b"/>
              <a:pathLst>
                <a:path w="6350000" h="6350000">
                  <a:moveTo>
                    <a:pt x="0" y="3484334"/>
                  </a:moveTo>
                  <a:lnTo>
                    <a:pt x="0" y="0"/>
                  </a:lnTo>
                  <a:lnTo>
                    <a:pt x="5404803" y="0"/>
                  </a:lnTo>
                  <a:cubicBezTo>
                    <a:pt x="5773928" y="369126"/>
                    <a:pt x="5980874" y="576072"/>
                    <a:pt x="6350000" y="945198"/>
                  </a:cubicBezTo>
                  <a:lnTo>
                    <a:pt x="6350000" y="6350000"/>
                  </a:lnTo>
                  <a:lnTo>
                    <a:pt x="2865666" y="6350000"/>
                  </a:lnTo>
                  <a:cubicBezTo>
                    <a:pt x="1746555" y="5230889"/>
                    <a:pt x="1119111" y="4603445"/>
                    <a:pt x="0" y="3484334"/>
                  </a:cubicBezTo>
                  <a:close/>
                </a:path>
              </a:pathLst>
            </a:custGeom>
            <a:blipFill>
              <a:blip r:embed="rId4"/>
              <a:stretch>
                <a:fillRect/>
              </a:stretch>
            </a:blipFill>
          </p:spPr>
        </p:sp>
      </p:grpSp>
      <p:sp>
        <p:nvSpPr>
          <p:cNvPr id="6" name="TextBox 6"/>
          <p:cNvSpPr txBox="1"/>
          <p:nvPr/>
        </p:nvSpPr>
        <p:spPr>
          <a:xfrm>
            <a:off x="6020218" y="947735"/>
            <a:ext cx="11858507" cy="2717727"/>
          </a:xfrm>
          <a:prstGeom prst="rect">
            <a:avLst/>
          </a:prstGeom>
        </p:spPr>
        <p:txBody>
          <a:bodyPr lIns="0" tIns="0" rIns="0" bIns="0" rtlCol="0" anchor="t">
            <a:spAutoFit/>
          </a:bodyPr>
          <a:lstStyle/>
          <a:p>
            <a:pPr marL="0" lvl="0" indent="0" algn="l">
              <a:lnSpc>
                <a:spcPts val="6980"/>
              </a:lnSpc>
            </a:pPr>
            <a:r>
              <a:rPr lang="en-US" sz="7587" b="1">
                <a:solidFill>
                  <a:srgbClr val="5A8D1E"/>
                </a:solidFill>
                <a:latin typeface="Monda Bold"/>
                <a:ea typeface="Monda Bold"/>
                <a:cs typeface="Monda Bold"/>
                <a:sym typeface="Monda Bold"/>
              </a:rPr>
              <a:t>DESIGN &amp; DEVELOPMENT PERSPECTIVE</a:t>
            </a:r>
          </a:p>
        </p:txBody>
      </p:sp>
      <p:sp>
        <p:nvSpPr>
          <p:cNvPr id="7" name="TextBox 7"/>
          <p:cNvSpPr txBox="1"/>
          <p:nvPr/>
        </p:nvSpPr>
        <p:spPr>
          <a:xfrm>
            <a:off x="7935228" y="4138836"/>
            <a:ext cx="8939707" cy="1323097"/>
          </a:xfrm>
          <a:prstGeom prst="rect">
            <a:avLst/>
          </a:prstGeom>
        </p:spPr>
        <p:txBody>
          <a:bodyPr lIns="0" tIns="0" rIns="0" bIns="0" rtlCol="0" anchor="t">
            <a:spAutoFit/>
          </a:bodyPr>
          <a:lstStyle/>
          <a:p>
            <a:pPr marL="0" lvl="0" indent="0" algn="just">
              <a:lnSpc>
                <a:spcPts val="2673"/>
              </a:lnSpc>
            </a:pPr>
            <a:r>
              <a:rPr lang="en-US" sz="1909">
                <a:solidFill>
                  <a:srgbClr val="225A58"/>
                </a:solidFill>
                <a:latin typeface="Bricolage Grotesque"/>
                <a:ea typeface="Bricolage Grotesque"/>
                <a:cs typeface="Bricolage Grotesque"/>
                <a:sym typeface="Bricolage Grotesque"/>
              </a:rPr>
              <a:t>Information Organization &amp; Logical User Flow: Structuring data and workflows so that users can navigate the system intuitively. Every screen and interaction was designed to follow a logical sequence, reducing confusion and improving efficiency across the ID generation process.</a:t>
            </a:r>
          </a:p>
        </p:txBody>
      </p:sp>
      <p:sp>
        <p:nvSpPr>
          <p:cNvPr id="8" name="TextBox 8"/>
          <p:cNvSpPr txBox="1"/>
          <p:nvPr/>
        </p:nvSpPr>
        <p:spPr>
          <a:xfrm>
            <a:off x="6020218" y="6031317"/>
            <a:ext cx="8939707" cy="1323097"/>
          </a:xfrm>
          <a:prstGeom prst="rect">
            <a:avLst/>
          </a:prstGeom>
        </p:spPr>
        <p:txBody>
          <a:bodyPr lIns="0" tIns="0" rIns="0" bIns="0" rtlCol="0" anchor="t">
            <a:spAutoFit/>
          </a:bodyPr>
          <a:lstStyle/>
          <a:p>
            <a:pPr marL="0" lvl="0" indent="0" algn="just">
              <a:lnSpc>
                <a:spcPts val="2673"/>
              </a:lnSpc>
            </a:pPr>
            <a:r>
              <a:rPr lang="en-US" sz="1909">
                <a:solidFill>
                  <a:srgbClr val="225A58"/>
                </a:solidFill>
                <a:latin typeface="Bricolage Grotesque"/>
                <a:ea typeface="Bricolage Grotesque"/>
                <a:cs typeface="Bricolage Grotesque"/>
                <a:sym typeface="Bricolage Grotesque"/>
              </a:rPr>
              <a:t>Interface Structure &amp; Data Organization: The interface was built to present information clearly, with consistent layouts and structured data entry. Organizing data fields, categories, and outputs ensured that records remained accurate, accessible, and easy to manage at scale.</a:t>
            </a:r>
          </a:p>
        </p:txBody>
      </p:sp>
      <p:sp>
        <p:nvSpPr>
          <p:cNvPr id="9" name="TextBox 9"/>
          <p:cNvSpPr txBox="1"/>
          <p:nvPr/>
        </p:nvSpPr>
        <p:spPr>
          <a:xfrm>
            <a:off x="7935228" y="7846147"/>
            <a:ext cx="8939707" cy="1323097"/>
          </a:xfrm>
          <a:prstGeom prst="rect">
            <a:avLst/>
          </a:prstGeom>
        </p:spPr>
        <p:txBody>
          <a:bodyPr lIns="0" tIns="0" rIns="0" bIns="0" rtlCol="0" anchor="t">
            <a:spAutoFit/>
          </a:bodyPr>
          <a:lstStyle/>
          <a:p>
            <a:pPr marL="0" lvl="0" indent="0" algn="just">
              <a:lnSpc>
                <a:spcPts val="2673"/>
              </a:lnSpc>
            </a:pPr>
            <a:r>
              <a:rPr lang="en-US" sz="1909">
                <a:solidFill>
                  <a:srgbClr val="225A58"/>
                </a:solidFill>
                <a:latin typeface="Bricolage Grotesque"/>
                <a:ea typeface="Bricolage Grotesque"/>
                <a:cs typeface="Bricolage Grotesque"/>
                <a:sym typeface="Bricolage Grotesque"/>
              </a:rPr>
              <a:t>Coordination Between Product Areas: Effective collaboration across front-end, back-end, and database layers was essential. Aligning interface decisions with data management requirements and workflow logic ensured a cohesive, well-integrated product that met both functional and design objectives.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24167" y="4506738"/>
            <a:ext cx="3761399" cy="5954917"/>
          </a:xfrm>
          <a:custGeom>
            <a:avLst/>
            <a:gdLst/>
            <a:ahLst/>
            <a:cxnLst/>
            <a:rect l="l" t="t" r="r" b="b"/>
            <a:pathLst>
              <a:path w="3761399" h="5954917">
                <a:moveTo>
                  <a:pt x="3761398" y="0"/>
                </a:moveTo>
                <a:lnTo>
                  <a:pt x="0" y="0"/>
                </a:lnTo>
                <a:lnTo>
                  <a:pt x="0" y="5954918"/>
                </a:lnTo>
                <a:lnTo>
                  <a:pt x="3761398" y="5954918"/>
                </a:lnTo>
                <a:lnTo>
                  <a:pt x="3761398" y="0"/>
                </a:lnTo>
                <a:close/>
              </a:path>
            </a:pathLst>
          </a:custGeom>
          <a:blipFill>
            <a:blip r:embed="rId2">
              <a:extLst>
                <a:ext uri="{96DAC541-7B7A-43D3-8B79-37D633B846F1}">
                  <asvg:svgBlip xmlns:asvg="http://schemas.microsoft.com/office/drawing/2016/SVG/main" xmlns="" r:embed="rId3"/>
                </a:ext>
              </a:extLst>
            </a:blip>
            <a:stretch>
              <a:fillRect t="-30812" r="-286682" b="-69025"/>
            </a:stretch>
          </a:blipFill>
        </p:spPr>
      </p:sp>
      <p:sp>
        <p:nvSpPr>
          <p:cNvPr id="3" name="Freeform 3"/>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r:embed="rId2">
              <a:extLst>
                <a:ext uri="{96DAC541-7B7A-43D3-8B79-37D633B846F1}">
                  <asvg:svgBlip xmlns:asvg="http://schemas.microsoft.com/office/drawing/2016/SVG/main" xmlns="" r:embed="rId3"/>
                </a:ext>
              </a:extLst>
            </a:blip>
            <a:stretch>
              <a:fillRect l="-36235"/>
            </a:stretch>
          </a:blipFill>
        </p:spPr>
      </p:sp>
      <p:grpSp>
        <p:nvGrpSpPr>
          <p:cNvPr id="4" name="Group 4"/>
          <p:cNvGrpSpPr/>
          <p:nvPr/>
        </p:nvGrpSpPr>
        <p:grpSpPr>
          <a:xfrm>
            <a:off x="626933" y="4176936"/>
            <a:ext cx="4389496" cy="4389496"/>
            <a:chOff x="0" y="0"/>
            <a:chExt cx="6350000" cy="6350000"/>
          </a:xfrm>
        </p:grpSpPr>
        <p:sp>
          <p:nvSpPr>
            <p:cNvPr id="5" name="Freeform 5"/>
            <p:cNvSpPr/>
            <p:nvPr/>
          </p:nvSpPr>
          <p:spPr>
            <a:xfrm>
              <a:off x="0" y="0"/>
              <a:ext cx="6350000" cy="6350000"/>
            </a:xfrm>
            <a:custGeom>
              <a:avLst/>
              <a:gdLst/>
              <a:ahLst/>
              <a:cxnLst/>
              <a:rect l="l" t="t" r="r" b="b"/>
              <a:pathLst>
                <a:path w="6350000" h="6350000">
                  <a:moveTo>
                    <a:pt x="0" y="3484334"/>
                  </a:moveTo>
                  <a:lnTo>
                    <a:pt x="0" y="0"/>
                  </a:lnTo>
                  <a:lnTo>
                    <a:pt x="5404803" y="0"/>
                  </a:lnTo>
                  <a:cubicBezTo>
                    <a:pt x="5773928" y="369126"/>
                    <a:pt x="5980874" y="576072"/>
                    <a:pt x="6350000" y="945198"/>
                  </a:cubicBezTo>
                  <a:lnTo>
                    <a:pt x="6350000" y="6350000"/>
                  </a:lnTo>
                  <a:lnTo>
                    <a:pt x="2865666" y="6350000"/>
                  </a:lnTo>
                  <a:cubicBezTo>
                    <a:pt x="1746555" y="5230889"/>
                    <a:pt x="1119111" y="4603445"/>
                    <a:pt x="0" y="3484334"/>
                  </a:cubicBezTo>
                  <a:close/>
                </a:path>
              </a:pathLst>
            </a:custGeom>
            <a:blipFill>
              <a:blip r:embed="rId4"/>
              <a:stretch>
                <a:fillRect/>
              </a:stretch>
            </a:blipFill>
          </p:spPr>
        </p:sp>
      </p:grpSp>
      <p:sp>
        <p:nvSpPr>
          <p:cNvPr id="6" name="TextBox 6"/>
          <p:cNvSpPr txBox="1"/>
          <p:nvPr/>
        </p:nvSpPr>
        <p:spPr>
          <a:xfrm>
            <a:off x="4185565" y="2162712"/>
            <a:ext cx="14679267" cy="1185311"/>
          </a:xfrm>
          <a:prstGeom prst="rect">
            <a:avLst/>
          </a:prstGeom>
        </p:spPr>
        <p:txBody>
          <a:bodyPr lIns="0" tIns="0" rIns="0" bIns="0" rtlCol="0" anchor="t">
            <a:spAutoFit/>
          </a:bodyPr>
          <a:lstStyle/>
          <a:p>
            <a:pPr marL="0" lvl="0" indent="0" algn="just">
              <a:lnSpc>
                <a:spcPts val="8733"/>
              </a:lnSpc>
            </a:pPr>
            <a:r>
              <a:rPr lang="en-US" sz="9493" b="1">
                <a:solidFill>
                  <a:srgbClr val="5A8D1E"/>
                </a:solidFill>
                <a:latin typeface="Monda Bold"/>
                <a:ea typeface="Monda Bold"/>
                <a:cs typeface="Monda Bold"/>
                <a:sym typeface="Monda Bold"/>
              </a:rPr>
              <a:t>LEARNING OUTCOMES</a:t>
            </a:r>
          </a:p>
        </p:txBody>
      </p:sp>
      <p:sp>
        <p:nvSpPr>
          <p:cNvPr id="7" name="TextBox 7"/>
          <p:cNvSpPr txBox="1"/>
          <p:nvPr/>
        </p:nvSpPr>
        <p:spPr>
          <a:xfrm>
            <a:off x="7935228" y="4138836"/>
            <a:ext cx="8939707" cy="990352"/>
          </a:xfrm>
          <a:prstGeom prst="rect">
            <a:avLst/>
          </a:prstGeom>
        </p:spPr>
        <p:txBody>
          <a:bodyPr lIns="0" tIns="0" rIns="0" bIns="0" rtlCol="0" anchor="t">
            <a:spAutoFit/>
          </a:bodyPr>
          <a:lstStyle/>
          <a:p>
            <a:pPr marL="0" lvl="0" indent="0" algn="just">
              <a:lnSpc>
                <a:spcPts val="2638"/>
              </a:lnSpc>
            </a:pPr>
            <a:r>
              <a:rPr lang="en-US" sz="1884">
                <a:solidFill>
                  <a:srgbClr val="225A58"/>
                </a:solidFill>
                <a:latin typeface="Bricolage Grotesque"/>
                <a:ea typeface="Bricolage Grotesque"/>
                <a:cs typeface="Bricolage Grotesque"/>
                <a:sym typeface="Bricolage Grotesque"/>
              </a:rPr>
              <a:t>• Gained hands-on experience in product conceptualization and ideation</a:t>
            </a:r>
          </a:p>
          <a:p>
            <a:pPr marL="0" lvl="0" indent="0" algn="just">
              <a:lnSpc>
                <a:spcPts val="2638"/>
              </a:lnSpc>
            </a:pPr>
            <a:r>
              <a:rPr lang="en-US" sz="1884">
                <a:solidFill>
                  <a:srgbClr val="225A58"/>
                </a:solidFill>
                <a:latin typeface="Bricolage Grotesque"/>
                <a:ea typeface="Bricolage Grotesque"/>
                <a:cs typeface="Bricolage Grotesque"/>
                <a:sym typeface="Bricolage Grotesque"/>
              </a:rPr>
              <a:t>• Developed skills in software planning and structured system design</a:t>
            </a:r>
          </a:p>
          <a:p>
            <a:pPr marL="0" lvl="0" indent="0" algn="just">
              <a:lnSpc>
                <a:spcPts val="2638"/>
              </a:lnSpc>
            </a:pPr>
            <a:r>
              <a:rPr lang="en-US" sz="1884">
                <a:solidFill>
                  <a:srgbClr val="225A58"/>
                </a:solidFill>
                <a:latin typeface="Bricolage Grotesque"/>
                <a:ea typeface="Bricolage Grotesque"/>
                <a:cs typeface="Bricolage Grotesque"/>
                <a:sym typeface="Bricolage Grotesque"/>
              </a:rPr>
              <a:t>• Understood layout and workflow design principles in real applications</a:t>
            </a:r>
          </a:p>
        </p:txBody>
      </p:sp>
      <p:sp>
        <p:nvSpPr>
          <p:cNvPr id="8" name="TextBox 8"/>
          <p:cNvSpPr txBox="1"/>
          <p:nvPr/>
        </p:nvSpPr>
        <p:spPr>
          <a:xfrm>
            <a:off x="6020218" y="6031317"/>
            <a:ext cx="8939707" cy="990352"/>
          </a:xfrm>
          <a:prstGeom prst="rect">
            <a:avLst/>
          </a:prstGeom>
        </p:spPr>
        <p:txBody>
          <a:bodyPr lIns="0" tIns="0" rIns="0" bIns="0" rtlCol="0" anchor="t">
            <a:spAutoFit/>
          </a:bodyPr>
          <a:lstStyle/>
          <a:p>
            <a:pPr marL="0" lvl="0" indent="0" algn="just">
              <a:lnSpc>
                <a:spcPts val="2638"/>
              </a:lnSpc>
            </a:pPr>
            <a:r>
              <a:rPr lang="en-US" sz="1884">
                <a:solidFill>
                  <a:srgbClr val="225A58"/>
                </a:solidFill>
                <a:latin typeface="Bricolage Grotesque"/>
                <a:ea typeface="Bricolage Grotesque"/>
                <a:cs typeface="Bricolage Grotesque"/>
                <a:sym typeface="Bricolage Grotesque"/>
              </a:rPr>
              <a:t>• Applied front-end development techniques in a professional environment</a:t>
            </a:r>
          </a:p>
          <a:p>
            <a:pPr marL="0" lvl="0" indent="0" algn="just">
              <a:lnSpc>
                <a:spcPts val="2638"/>
              </a:lnSpc>
            </a:pPr>
            <a:r>
              <a:rPr lang="en-US" sz="1884">
                <a:solidFill>
                  <a:srgbClr val="225A58"/>
                </a:solidFill>
                <a:latin typeface="Bricolage Grotesque"/>
                <a:ea typeface="Bricolage Grotesque"/>
                <a:cs typeface="Bricolage Grotesque"/>
                <a:sym typeface="Bricolage Grotesque"/>
              </a:rPr>
              <a:t>• Built foundational knowledge in database management and data organization</a:t>
            </a:r>
          </a:p>
          <a:p>
            <a:pPr marL="0" lvl="0" indent="0" algn="just">
              <a:lnSpc>
                <a:spcPts val="2638"/>
              </a:lnSpc>
            </a:pPr>
            <a:r>
              <a:rPr lang="en-US" sz="1884">
                <a:solidFill>
                  <a:srgbClr val="225A58"/>
                </a:solidFill>
                <a:latin typeface="Bricolage Grotesque"/>
                <a:ea typeface="Bricolage Grotesque"/>
                <a:cs typeface="Bricolage Grotesque"/>
                <a:sym typeface="Bricolage Grotesque"/>
              </a:rPr>
              <a:t>• Strengthened teamwork, coordination and real-world product exposure</a:t>
            </a:r>
          </a:p>
        </p:txBody>
      </p:sp>
      <p:sp>
        <p:nvSpPr>
          <p:cNvPr id="9" name="TextBox 9"/>
          <p:cNvSpPr txBox="1"/>
          <p:nvPr/>
        </p:nvSpPr>
        <p:spPr>
          <a:xfrm>
            <a:off x="7935228" y="7922347"/>
            <a:ext cx="8939707" cy="1323727"/>
          </a:xfrm>
          <a:prstGeom prst="rect">
            <a:avLst/>
          </a:prstGeom>
        </p:spPr>
        <p:txBody>
          <a:bodyPr lIns="0" tIns="0" rIns="0" bIns="0" rtlCol="0" anchor="t">
            <a:spAutoFit/>
          </a:bodyPr>
          <a:lstStyle/>
          <a:p>
            <a:pPr marL="0" lvl="0" indent="0" algn="just">
              <a:lnSpc>
                <a:spcPts val="2638"/>
              </a:lnSpc>
            </a:pPr>
            <a:r>
              <a:rPr lang="en-US" sz="1884">
                <a:solidFill>
                  <a:srgbClr val="225A58"/>
                </a:solidFill>
                <a:latin typeface="Bricolage Grotesque"/>
                <a:ea typeface="Bricolage Grotesque"/>
                <a:cs typeface="Bricolage Grotesque"/>
                <a:sym typeface="Bricolage Grotesque"/>
              </a:rPr>
              <a:t>This internship provided Mohd Hunain Zafar with practical, multi-disciplinary exposure — from product ideation and planning to front-end development and database management — building a strong foundation for a career in software design and development.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r:embed="rId2">
              <a:extLst>
                <a:ext uri="{96DAC541-7B7A-43D3-8B79-37D633B846F1}">
                  <asvg:svgBlip xmlns:asvg="http://schemas.microsoft.com/office/drawing/2016/SVG/main" xmlns="" r:embed="rId3"/>
                </a:ext>
              </a:extLst>
            </a:blip>
            <a:stretch>
              <a:fillRect l="-36235"/>
            </a:stretch>
          </a:blipFill>
        </p:spPr>
      </p:sp>
      <p:sp>
        <p:nvSpPr>
          <p:cNvPr id="3" name="Freeform 3"/>
          <p:cNvSpPr/>
          <p:nvPr/>
        </p:nvSpPr>
        <p:spPr>
          <a:xfrm flipH="1">
            <a:off x="589664" y="3613660"/>
            <a:ext cx="2793318" cy="8644339"/>
          </a:xfrm>
          <a:custGeom>
            <a:avLst/>
            <a:gdLst/>
            <a:ahLst/>
            <a:cxnLst/>
            <a:rect l="l" t="t" r="r" b="b"/>
            <a:pathLst>
              <a:path w="2793318" h="8644339">
                <a:moveTo>
                  <a:pt x="2793319" y="0"/>
                </a:moveTo>
                <a:lnTo>
                  <a:pt x="0" y="0"/>
                </a:lnTo>
                <a:lnTo>
                  <a:pt x="0" y="8644339"/>
                </a:lnTo>
                <a:lnTo>
                  <a:pt x="2793319" y="8644339"/>
                </a:lnTo>
                <a:lnTo>
                  <a:pt x="2793319" y="0"/>
                </a:lnTo>
                <a:close/>
              </a:path>
            </a:pathLst>
          </a:custGeom>
          <a:blipFill>
            <a:blip r:embed="rId2">
              <a:extLst>
                <a:ext uri="{96DAC541-7B7A-43D3-8B79-37D633B846F1}">
                  <asvg:svgBlip xmlns:asvg="http://schemas.microsoft.com/office/drawing/2016/SVG/main" xmlns="" r:embed="rId3"/>
                </a:ext>
              </a:extLst>
            </a:blip>
            <a:stretch>
              <a:fillRect r="-278234"/>
            </a:stretch>
          </a:blipFill>
        </p:spPr>
      </p:sp>
      <p:sp>
        <p:nvSpPr>
          <p:cNvPr id="4" name="Freeform 4"/>
          <p:cNvSpPr/>
          <p:nvPr/>
        </p:nvSpPr>
        <p:spPr>
          <a:xfrm flipV="1">
            <a:off x="14260897" y="2006517"/>
            <a:ext cx="7933604" cy="8843244"/>
          </a:xfrm>
          <a:custGeom>
            <a:avLst/>
            <a:gdLst/>
            <a:ahLst/>
            <a:cxnLst/>
            <a:rect l="l" t="t" r="r" b="b"/>
            <a:pathLst>
              <a:path w="7933604" h="8843244">
                <a:moveTo>
                  <a:pt x="0" y="8843243"/>
                </a:moveTo>
                <a:lnTo>
                  <a:pt x="7933604" y="8843243"/>
                </a:lnTo>
                <a:lnTo>
                  <a:pt x="7933604" y="0"/>
                </a:lnTo>
                <a:lnTo>
                  <a:pt x="0" y="0"/>
                </a:lnTo>
                <a:lnTo>
                  <a:pt x="0" y="8843243"/>
                </a:lnTo>
                <a:close/>
              </a:path>
            </a:pathLst>
          </a:custGeom>
          <a:blipFill>
            <a:blip r:embed="rId2">
              <a:extLst>
                <a:ext uri="{96DAC541-7B7A-43D3-8B79-37D633B846F1}">
                  <asvg:svgBlip xmlns:asvg="http://schemas.microsoft.com/office/drawing/2016/SVG/main" xmlns="" r:embed="rId3"/>
                </a:ext>
              </a:extLst>
            </a:blip>
            <a:stretch>
              <a:fillRect l="-36235"/>
            </a:stretch>
          </a:blipFill>
        </p:spPr>
      </p:sp>
      <p:grpSp>
        <p:nvGrpSpPr>
          <p:cNvPr id="5" name="Group 5"/>
          <p:cNvGrpSpPr/>
          <p:nvPr/>
        </p:nvGrpSpPr>
        <p:grpSpPr>
          <a:xfrm>
            <a:off x="11374434" y="4488796"/>
            <a:ext cx="5884866" cy="5049654"/>
            <a:chOff x="0" y="0"/>
            <a:chExt cx="6269228" cy="5379466"/>
          </a:xfrm>
        </p:grpSpPr>
        <p:sp>
          <p:nvSpPr>
            <p:cNvPr id="6" name="Freeform 6"/>
            <p:cNvSpPr/>
            <p:nvPr/>
          </p:nvSpPr>
          <p:spPr>
            <a:xfrm>
              <a:off x="12" y="76"/>
              <a:ext cx="6269216" cy="5379390"/>
            </a:xfrm>
            <a:custGeom>
              <a:avLst/>
              <a:gdLst/>
              <a:ahLst/>
              <a:cxnLst/>
              <a:rect l="l" t="t" r="r" b="b"/>
              <a:pathLst>
                <a:path w="6269216" h="5379390">
                  <a:moveTo>
                    <a:pt x="5977116" y="5379390"/>
                  </a:moveTo>
                  <a:cubicBezTo>
                    <a:pt x="6137771" y="5379390"/>
                    <a:pt x="6269216" y="5247945"/>
                    <a:pt x="6269216" y="5087290"/>
                  </a:cubicBezTo>
                  <a:lnTo>
                    <a:pt x="6269216" y="237922"/>
                  </a:lnTo>
                  <a:cubicBezTo>
                    <a:pt x="6269216" y="77267"/>
                    <a:pt x="6140565" y="-27000"/>
                    <a:pt x="5983466" y="6147"/>
                  </a:cubicBezTo>
                  <a:lnTo>
                    <a:pt x="204966" y="1224966"/>
                  </a:lnTo>
                  <a:cubicBezTo>
                    <a:pt x="47740" y="1258113"/>
                    <a:pt x="-37350" y="1409243"/>
                    <a:pt x="15863" y="1560881"/>
                  </a:cubicBezTo>
                  <a:lnTo>
                    <a:pt x="1258431" y="5103673"/>
                  </a:lnTo>
                  <a:cubicBezTo>
                    <a:pt x="1311644" y="5255311"/>
                    <a:pt x="1486523" y="5379263"/>
                    <a:pt x="1647178" y="5379263"/>
                  </a:cubicBezTo>
                  <a:lnTo>
                    <a:pt x="5977116" y="5379390"/>
                  </a:lnTo>
                  <a:close/>
                </a:path>
              </a:pathLst>
            </a:custGeom>
            <a:blipFill>
              <a:blip r:embed="rId4"/>
              <a:stretch>
                <a:fillRect l="-105" r="-105"/>
              </a:stretch>
            </a:blipFill>
          </p:spPr>
        </p:sp>
      </p:grpSp>
      <p:sp>
        <p:nvSpPr>
          <p:cNvPr id="7" name="TextBox 7"/>
          <p:cNvSpPr txBox="1"/>
          <p:nvPr/>
        </p:nvSpPr>
        <p:spPr>
          <a:xfrm>
            <a:off x="3972420" y="8102198"/>
            <a:ext cx="4546447" cy="265089"/>
          </a:xfrm>
          <a:prstGeom prst="rect">
            <a:avLst/>
          </a:prstGeom>
        </p:spPr>
        <p:txBody>
          <a:bodyPr lIns="0" tIns="0" rIns="0" bIns="0" rtlCol="0" anchor="t">
            <a:spAutoFit/>
          </a:bodyPr>
          <a:lstStyle/>
          <a:p>
            <a:pPr marL="0" lvl="0" indent="0" algn="l">
              <a:lnSpc>
                <a:spcPts val="2188"/>
              </a:lnSpc>
            </a:pPr>
            <a:r>
              <a:rPr lang="en-US" sz="1563">
                <a:solidFill>
                  <a:srgbClr val="225A58"/>
                </a:solidFill>
                <a:latin typeface="Bricolage Grotesque"/>
                <a:ea typeface="Bricolage Grotesque"/>
                <a:cs typeface="Bricolage Grotesque"/>
                <a:sym typeface="Bricolage Grotesque"/>
              </a:rPr>
              <a:t>Presented by:</a:t>
            </a:r>
          </a:p>
        </p:txBody>
      </p:sp>
      <p:sp>
        <p:nvSpPr>
          <p:cNvPr id="8" name="TextBox 8"/>
          <p:cNvSpPr txBox="1"/>
          <p:nvPr/>
        </p:nvSpPr>
        <p:spPr>
          <a:xfrm>
            <a:off x="4611267" y="4966868"/>
            <a:ext cx="4546447" cy="541314"/>
          </a:xfrm>
          <a:prstGeom prst="rect">
            <a:avLst/>
          </a:prstGeom>
        </p:spPr>
        <p:txBody>
          <a:bodyPr lIns="0" tIns="0" rIns="0" bIns="0" rtlCol="0" anchor="t">
            <a:spAutoFit/>
          </a:bodyPr>
          <a:lstStyle/>
          <a:p>
            <a:pPr marL="0" lvl="0" indent="0" algn="l">
              <a:lnSpc>
                <a:spcPts val="2188"/>
              </a:lnSpc>
            </a:pPr>
            <a:r>
              <a:rPr lang="en-US" sz="1563">
                <a:solidFill>
                  <a:srgbClr val="225A58"/>
                </a:solidFill>
                <a:latin typeface="Bricolage Grotesque"/>
                <a:ea typeface="Bricolage Grotesque"/>
                <a:cs typeface="Bricolage Grotesque"/>
                <a:sym typeface="Bricolage Grotesque"/>
              </a:rPr>
              <a:t>Gained practical software product experience beyond just coding</a:t>
            </a:r>
          </a:p>
        </p:txBody>
      </p:sp>
      <p:sp>
        <p:nvSpPr>
          <p:cNvPr id="9" name="TextBox 9"/>
          <p:cNvSpPr txBox="1"/>
          <p:nvPr/>
        </p:nvSpPr>
        <p:spPr>
          <a:xfrm>
            <a:off x="4611267" y="5707459"/>
            <a:ext cx="5763042" cy="541314"/>
          </a:xfrm>
          <a:prstGeom prst="rect">
            <a:avLst/>
          </a:prstGeom>
        </p:spPr>
        <p:txBody>
          <a:bodyPr lIns="0" tIns="0" rIns="0" bIns="0" rtlCol="0" anchor="t">
            <a:spAutoFit/>
          </a:bodyPr>
          <a:lstStyle/>
          <a:p>
            <a:pPr marL="0" lvl="0" indent="0" algn="l">
              <a:lnSpc>
                <a:spcPts val="2188"/>
              </a:lnSpc>
            </a:pPr>
            <a:r>
              <a:rPr lang="en-US" sz="1563">
                <a:solidFill>
                  <a:srgbClr val="225A58"/>
                </a:solidFill>
                <a:latin typeface="Bricolage Grotesque"/>
                <a:ea typeface="Bricolage Grotesque"/>
                <a:cs typeface="Bricolage Grotesque"/>
                <a:sym typeface="Bricolage Grotesque"/>
              </a:rPr>
              <a:t>Contributed to structure, workflow, and data management at ADH Enterprises</a:t>
            </a:r>
          </a:p>
        </p:txBody>
      </p:sp>
      <p:sp>
        <p:nvSpPr>
          <p:cNvPr id="10" name="TextBox 10"/>
          <p:cNvSpPr txBox="1"/>
          <p:nvPr/>
        </p:nvSpPr>
        <p:spPr>
          <a:xfrm>
            <a:off x="4611267" y="6449774"/>
            <a:ext cx="5763042" cy="541314"/>
          </a:xfrm>
          <a:prstGeom prst="rect">
            <a:avLst/>
          </a:prstGeom>
        </p:spPr>
        <p:txBody>
          <a:bodyPr lIns="0" tIns="0" rIns="0" bIns="0" rtlCol="0" anchor="t">
            <a:spAutoFit/>
          </a:bodyPr>
          <a:lstStyle/>
          <a:p>
            <a:pPr marL="0" lvl="0" indent="0" algn="l">
              <a:lnSpc>
                <a:spcPts val="2188"/>
              </a:lnSpc>
            </a:pPr>
            <a:r>
              <a:rPr lang="en-US" sz="1563">
                <a:solidFill>
                  <a:srgbClr val="225A58"/>
                </a:solidFill>
                <a:latin typeface="Bricolage Grotesque"/>
                <a:ea typeface="Bricolage Grotesque"/>
                <a:cs typeface="Bricolage Grotesque"/>
                <a:sym typeface="Bricolage Grotesque"/>
              </a:rPr>
              <a:t>Developed a holistic understanding of real-world software product development</a:t>
            </a:r>
          </a:p>
        </p:txBody>
      </p:sp>
      <p:sp>
        <p:nvSpPr>
          <p:cNvPr id="11" name="TextBox 11"/>
          <p:cNvSpPr txBox="1"/>
          <p:nvPr/>
        </p:nvSpPr>
        <p:spPr>
          <a:xfrm>
            <a:off x="3972420" y="8606388"/>
            <a:ext cx="2826533" cy="364095"/>
          </a:xfrm>
          <a:prstGeom prst="rect">
            <a:avLst/>
          </a:prstGeom>
        </p:spPr>
        <p:txBody>
          <a:bodyPr lIns="0" tIns="0" rIns="0" bIns="0" rtlCol="0" anchor="t">
            <a:spAutoFit/>
          </a:bodyPr>
          <a:lstStyle/>
          <a:p>
            <a:pPr marL="0" lvl="0" indent="0" algn="l">
              <a:lnSpc>
                <a:spcPts val="3031"/>
              </a:lnSpc>
            </a:pPr>
            <a:r>
              <a:rPr lang="en-US" sz="2165" b="1">
                <a:solidFill>
                  <a:srgbClr val="225A58"/>
                </a:solidFill>
                <a:latin typeface="Monda Bold"/>
                <a:ea typeface="Monda Bold"/>
                <a:cs typeface="Monda Bold"/>
                <a:sym typeface="Monda Bold"/>
              </a:rPr>
              <a:t>Mohd Hunain Zafar</a:t>
            </a:r>
          </a:p>
        </p:txBody>
      </p:sp>
      <p:sp>
        <p:nvSpPr>
          <p:cNvPr id="12" name="TextBox 12"/>
          <p:cNvSpPr txBox="1"/>
          <p:nvPr/>
        </p:nvSpPr>
        <p:spPr>
          <a:xfrm>
            <a:off x="4048029" y="4208434"/>
            <a:ext cx="5501850" cy="364095"/>
          </a:xfrm>
          <a:prstGeom prst="rect">
            <a:avLst/>
          </a:prstGeom>
        </p:spPr>
        <p:txBody>
          <a:bodyPr lIns="0" tIns="0" rIns="0" bIns="0" rtlCol="0" anchor="t">
            <a:spAutoFit/>
          </a:bodyPr>
          <a:lstStyle/>
          <a:p>
            <a:pPr marL="0" lvl="0" indent="0" algn="l">
              <a:lnSpc>
                <a:spcPts val="3031"/>
              </a:lnSpc>
            </a:pPr>
            <a:r>
              <a:rPr lang="en-US" sz="2165" b="1">
                <a:solidFill>
                  <a:srgbClr val="225A58"/>
                </a:solidFill>
                <a:latin typeface="Monda Bold"/>
                <a:ea typeface="Monda Bold"/>
                <a:cs typeface="Monda Bold"/>
                <a:sym typeface="Monda Bold"/>
              </a:rPr>
              <a:t>Key Takeaways:</a:t>
            </a:r>
          </a:p>
        </p:txBody>
      </p:sp>
      <p:sp>
        <p:nvSpPr>
          <p:cNvPr id="13" name="TextBox 13"/>
          <p:cNvSpPr txBox="1"/>
          <p:nvPr/>
        </p:nvSpPr>
        <p:spPr>
          <a:xfrm>
            <a:off x="4048029" y="1796967"/>
            <a:ext cx="9990969" cy="1855213"/>
          </a:xfrm>
          <a:prstGeom prst="rect">
            <a:avLst/>
          </a:prstGeom>
        </p:spPr>
        <p:txBody>
          <a:bodyPr lIns="0" tIns="0" rIns="0" bIns="0" rtlCol="0" anchor="t">
            <a:spAutoFit/>
          </a:bodyPr>
          <a:lstStyle/>
          <a:p>
            <a:pPr marL="0" lvl="0" indent="0" algn="l">
              <a:lnSpc>
                <a:spcPts val="15207"/>
              </a:lnSpc>
            </a:pPr>
            <a:r>
              <a:rPr lang="en-US" sz="10862" b="1">
                <a:solidFill>
                  <a:srgbClr val="5A8D1E"/>
                </a:solidFill>
                <a:latin typeface="Monda Bold"/>
                <a:ea typeface="Monda Bold"/>
                <a:cs typeface="Monda Bold"/>
                <a:sym typeface="Monda Bold"/>
              </a:rPr>
              <a:t>THANK YOU</a:t>
            </a:r>
          </a:p>
        </p:txBody>
      </p:sp>
      <p:sp>
        <p:nvSpPr>
          <p:cNvPr id="14" name="TextBox 14"/>
          <p:cNvSpPr txBox="1"/>
          <p:nvPr/>
        </p:nvSpPr>
        <p:spPr>
          <a:xfrm>
            <a:off x="3943845" y="9160983"/>
            <a:ext cx="2855108" cy="364095"/>
          </a:xfrm>
          <a:prstGeom prst="rect">
            <a:avLst/>
          </a:prstGeom>
        </p:spPr>
        <p:txBody>
          <a:bodyPr lIns="0" tIns="0" rIns="0" bIns="0" rtlCol="0" anchor="t">
            <a:spAutoFit/>
          </a:bodyPr>
          <a:lstStyle/>
          <a:p>
            <a:pPr marL="0" lvl="0" indent="0" algn="l">
              <a:lnSpc>
                <a:spcPts val="3031"/>
              </a:lnSpc>
            </a:pPr>
            <a:r>
              <a:rPr lang="en-US" sz="2165" b="1">
                <a:solidFill>
                  <a:srgbClr val="225A58"/>
                </a:solidFill>
                <a:latin typeface="Monda Bold"/>
                <a:ea typeface="Monda Bold"/>
                <a:cs typeface="Monda Bold"/>
                <a:sym typeface="Monda Bold"/>
              </a:rPr>
              <a:t>2SSCS1003005431</a:t>
            </a:r>
          </a:p>
        </p:txBody>
      </p:sp>
      <p:sp>
        <p:nvSpPr>
          <p:cNvPr id="15" name="Freeform 15"/>
          <p:cNvSpPr/>
          <p:nvPr/>
        </p:nvSpPr>
        <p:spPr>
          <a:xfrm>
            <a:off x="14893457" y="411140"/>
            <a:ext cx="2932078" cy="1767280"/>
          </a:xfrm>
          <a:custGeom>
            <a:avLst/>
            <a:gdLst/>
            <a:ahLst/>
            <a:cxnLst/>
            <a:rect l="l" t="t" r="r" b="b"/>
            <a:pathLst>
              <a:path w="2932078" h="1767280">
                <a:moveTo>
                  <a:pt x="0" y="0"/>
                </a:moveTo>
                <a:lnTo>
                  <a:pt x="2932079" y="0"/>
                </a:lnTo>
                <a:lnTo>
                  <a:pt x="2932079" y="1767280"/>
                </a:lnTo>
                <a:lnTo>
                  <a:pt x="0" y="1767280"/>
                </a:lnTo>
                <a:lnTo>
                  <a:pt x="0" y="0"/>
                </a:lnTo>
                <a:close/>
              </a:path>
            </a:pathLst>
          </a:custGeom>
          <a:blipFill>
            <a:blip r:embed="rId5"/>
            <a:stretch>
              <a:fillRect l="-83067" t="-88653" r="-525532" b="-643198"/>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820</Words>
  <Application>Microsoft Office PowerPoint</Application>
  <PresentationFormat>Custom</PresentationFormat>
  <Paragraphs>57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Monda Bold</vt:lpstr>
      <vt:lpstr>Bricolage Grotesque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Internship: Mohd Hunain Zafar at ADH Enterprises</dc:title>
  <cp:lastModifiedBy>Hunain</cp:lastModifiedBy>
  <cp:revision>2</cp:revision>
  <dcterms:created xsi:type="dcterms:W3CDTF">2006-08-16T00:00:00Z</dcterms:created>
  <dcterms:modified xsi:type="dcterms:W3CDTF">2026-09-10T17:00:06Z</dcterms:modified>
  <dc:identifier>DAHUyc57-wA</dc:identifier>
</cp:coreProperties>
</file>